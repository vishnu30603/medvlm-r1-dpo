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Klein Bold" charset="1" panose="02000503060000020004"/>
      <p:regular r:id="rId23"/>
    </p:embeddedFont>
    <p:embeddedFont>
      <p:font typeface="Helios Bold" charset="1" panose="020B0704020202020204"/>
      <p:regular r:id="rId24"/>
    </p:embeddedFont>
    <p:embeddedFont>
      <p:font typeface="Helios" charset="1" panose="020B0504020202020204"/>
      <p:regular r:id="rId25"/>
    </p:embeddedFont>
    <p:embeddedFont>
      <p:font typeface="Helios Italics" charset="1" panose="020B050302020209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78038" y="-4209815"/>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38077" y="4734826"/>
            <a:ext cx="5866235" cy="5866235"/>
          </a:xfrm>
          <a:custGeom>
            <a:avLst/>
            <a:gdLst/>
            <a:ahLst/>
            <a:cxnLst/>
            <a:rect r="r" b="b" t="t" l="l"/>
            <a:pathLst>
              <a:path h="5866235" w="5866235">
                <a:moveTo>
                  <a:pt x="0" y="0"/>
                </a:moveTo>
                <a:lnTo>
                  <a:pt x="5866235" y="0"/>
                </a:lnTo>
                <a:lnTo>
                  <a:pt x="5866235" y="5866234"/>
                </a:lnTo>
                <a:lnTo>
                  <a:pt x="0" y="586623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06894" y="7718869"/>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2">
              <a:alphaModFix amt="80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8508429" y="1028700"/>
            <a:ext cx="9092103" cy="4381500"/>
          </a:xfrm>
          <a:prstGeom prst="rect">
            <a:avLst/>
          </a:prstGeom>
        </p:spPr>
        <p:txBody>
          <a:bodyPr anchor="t" rtlCol="false" tIns="0" lIns="0" bIns="0" rIns="0">
            <a:spAutoFit/>
          </a:bodyPr>
          <a:lstStyle/>
          <a:p>
            <a:pPr algn="l">
              <a:lnSpc>
                <a:spcPts val="8640"/>
              </a:lnSpc>
            </a:pPr>
            <a:r>
              <a:rPr lang="en-US" sz="7200" b="true">
                <a:solidFill>
                  <a:srgbClr val="718BAB"/>
                </a:solidFill>
                <a:latin typeface="Klein Bold"/>
                <a:ea typeface="Klein Bold"/>
                <a:cs typeface="Klein Bold"/>
                <a:sym typeface="Klein Bold"/>
              </a:rPr>
              <a:t>DPO for Medical VLMs: </a:t>
            </a:r>
            <a:r>
              <a:rPr lang="en-US" sz="7200" b="true">
                <a:solidFill>
                  <a:srgbClr val="2A2E3A"/>
                </a:solidFill>
                <a:latin typeface="Klein Bold"/>
                <a:ea typeface="Klein Bold"/>
                <a:cs typeface="Klein Bold"/>
                <a:sym typeface="Klein Bold"/>
              </a:rPr>
              <a:t>Efficient CoT Learning &amp; OOD Generalization</a:t>
            </a:r>
          </a:p>
        </p:txBody>
      </p:sp>
      <p:sp>
        <p:nvSpPr>
          <p:cNvPr name="TextBox 6" id="6"/>
          <p:cNvSpPr txBox="true"/>
          <p:nvPr/>
        </p:nvSpPr>
        <p:spPr>
          <a:xfrm rot="0">
            <a:off x="763885" y="1053506"/>
            <a:ext cx="6159015" cy="3119437"/>
          </a:xfrm>
          <a:prstGeom prst="rect">
            <a:avLst/>
          </a:prstGeom>
        </p:spPr>
        <p:txBody>
          <a:bodyPr anchor="t" rtlCol="false" tIns="0" lIns="0" bIns="0" rIns="0">
            <a:spAutoFit/>
          </a:bodyPr>
          <a:lstStyle/>
          <a:p>
            <a:pPr algn="l">
              <a:lnSpc>
                <a:spcPts val="8959"/>
              </a:lnSpc>
            </a:pPr>
            <a:r>
              <a:rPr lang="en-US" sz="6399" b="true">
                <a:solidFill>
                  <a:srgbClr val="F4F4F4"/>
                </a:solidFill>
                <a:latin typeface="Helios Bold"/>
                <a:ea typeface="Helios Bold"/>
                <a:cs typeface="Helios Bold"/>
                <a:sym typeface="Helios Bold"/>
              </a:rPr>
              <a:t>CE58201</a:t>
            </a:r>
          </a:p>
          <a:p>
            <a:pPr algn="l">
              <a:lnSpc>
                <a:spcPts val="7840"/>
              </a:lnSpc>
            </a:pPr>
            <a:r>
              <a:rPr lang="en-US" sz="5600" b="true">
                <a:solidFill>
                  <a:srgbClr val="F4F4F4"/>
                </a:solidFill>
                <a:latin typeface="Helios Bold"/>
                <a:ea typeface="Helios Bold"/>
                <a:cs typeface="Helios Bold"/>
                <a:sym typeface="Helios Bold"/>
              </a:rPr>
              <a:t>SUMMER</a:t>
            </a:r>
          </a:p>
          <a:p>
            <a:pPr algn="l">
              <a:lnSpc>
                <a:spcPts val="7840"/>
              </a:lnSpc>
              <a:spcBef>
                <a:spcPct val="0"/>
              </a:spcBef>
            </a:pPr>
            <a:r>
              <a:rPr lang="en-US" b="true" sz="5600">
                <a:solidFill>
                  <a:srgbClr val="F4F4F4"/>
                </a:solidFill>
                <a:latin typeface="Helios Bold"/>
                <a:ea typeface="Helios Bold"/>
                <a:cs typeface="Helios Bold"/>
                <a:sym typeface="Helios Bold"/>
              </a:rPr>
              <a:t>INTERNSHIP</a:t>
            </a:r>
          </a:p>
        </p:txBody>
      </p:sp>
      <p:sp>
        <p:nvSpPr>
          <p:cNvPr name="TextBox 7" id="7"/>
          <p:cNvSpPr txBox="true"/>
          <p:nvPr/>
        </p:nvSpPr>
        <p:spPr>
          <a:xfrm rot="0">
            <a:off x="8857758" y="7864475"/>
            <a:ext cx="8393445" cy="1393825"/>
          </a:xfrm>
          <a:prstGeom prst="rect">
            <a:avLst/>
          </a:prstGeom>
        </p:spPr>
        <p:txBody>
          <a:bodyPr anchor="t" rtlCol="false" tIns="0" lIns="0" bIns="0" rIns="0">
            <a:spAutoFit/>
          </a:bodyPr>
          <a:lstStyle/>
          <a:p>
            <a:pPr algn="l">
              <a:lnSpc>
                <a:spcPts val="5599"/>
              </a:lnSpc>
              <a:spcBef>
                <a:spcPct val="0"/>
              </a:spcBef>
            </a:pPr>
            <a:r>
              <a:rPr lang="en-US" sz="3999">
                <a:solidFill>
                  <a:srgbClr val="000000"/>
                </a:solidFill>
                <a:latin typeface="Helios"/>
                <a:ea typeface="Helios"/>
                <a:cs typeface="Helios"/>
                <a:sym typeface="Helios"/>
              </a:rPr>
              <a:t>Kolathuru Vishnu Vardhan</a:t>
            </a:r>
          </a:p>
          <a:p>
            <a:pPr algn="l">
              <a:lnSpc>
                <a:spcPts val="5599"/>
              </a:lnSpc>
              <a:spcBef>
                <a:spcPct val="0"/>
              </a:spcBef>
            </a:pPr>
            <a:r>
              <a:rPr lang="en-US" sz="3999">
                <a:solidFill>
                  <a:srgbClr val="000000"/>
                </a:solidFill>
                <a:latin typeface="Helios"/>
                <a:ea typeface="Helios"/>
                <a:cs typeface="Helios"/>
                <a:sym typeface="Helios"/>
              </a:rPr>
              <a:t>21CE3AI13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19174"/>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1028700" y="2336149"/>
            <a:ext cx="11233657" cy="2948297"/>
          </a:xfrm>
          <a:custGeom>
            <a:avLst/>
            <a:gdLst/>
            <a:ahLst/>
            <a:cxnLst/>
            <a:rect r="r" b="b" t="t" l="l"/>
            <a:pathLst>
              <a:path h="2948297" w="11233657">
                <a:moveTo>
                  <a:pt x="0" y="0"/>
                </a:moveTo>
                <a:lnTo>
                  <a:pt x="11233657" y="0"/>
                </a:lnTo>
                <a:lnTo>
                  <a:pt x="11233657" y="2948297"/>
                </a:lnTo>
                <a:lnTo>
                  <a:pt x="0" y="2948297"/>
                </a:lnTo>
                <a:lnTo>
                  <a:pt x="0" y="0"/>
                </a:lnTo>
                <a:close/>
              </a:path>
            </a:pathLst>
          </a:custGeom>
          <a:blipFill>
            <a:blip r:embed="rId2"/>
            <a:stretch>
              <a:fillRect l="0" t="0" r="0" b="0"/>
            </a:stretch>
          </a:blipFill>
        </p:spPr>
      </p:sp>
      <p:sp>
        <p:nvSpPr>
          <p:cNvPr name="TextBox 6" id="6"/>
          <p:cNvSpPr txBox="true"/>
          <p:nvPr/>
        </p:nvSpPr>
        <p:spPr>
          <a:xfrm rot="0">
            <a:off x="1028700" y="962025"/>
            <a:ext cx="10325028" cy="822324"/>
          </a:xfrm>
          <a:prstGeom prst="rect">
            <a:avLst/>
          </a:prstGeom>
        </p:spPr>
        <p:txBody>
          <a:bodyPr anchor="t" rtlCol="false" tIns="0" lIns="0" bIns="0" rIns="0">
            <a:spAutoFit/>
          </a:bodyPr>
          <a:lstStyle/>
          <a:p>
            <a:pPr algn="l">
              <a:lnSpc>
                <a:spcPts val="6500"/>
              </a:lnSpc>
            </a:pPr>
            <a:r>
              <a:rPr lang="en-US" b="true" sz="5000">
                <a:solidFill>
                  <a:srgbClr val="2A2E3A"/>
                </a:solidFill>
                <a:latin typeface="Klein Bold"/>
                <a:ea typeface="Klein Bold"/>
                <a:cs typeface="Klein Bold"/>
                <a:sym typeface="Klein Bold"/>
              </a:rPr>
              <a:t>About My Internship</a:t>
            </a:r>
          </a:p>
        </p:txBody>
      </p:sp>
      <p:sp>
        <p:nvSpPr>
          <p:cNvPr name="TextBox 7" id="7"/>
          <p:cNvSpPr txBox="true"/>
          <p:nvPr/>
        </p:nvSpPr>
        <p:spPr>
          <a:xfrm rot="0">
            <a:off x="1028700" y="5750521"/>
            <a:ext cx="10750525" cy="3343276"/>
          </a:xfrm>
          <a:prstGeom prst="rect">
            <a:avLst/>
          </a:prstGeom>
        </p:spPr>
        <p:txBody>
          <a:bodyPr anchor="t" rtlCol="false" tIns="0" lIns="0" bIns="0" rIns="0">
            <a:spAutoFit/>
          </a:bodyPr>
          <a:lstStyle/>
          <a:p>
            <a:pPr algn="l">
              <a:lnSpc>
                <a:spcPts val="4499"/>
              </a:lnSpc>
            </a:pPr>
            <a:r>
              <a:rPr lang="en-US" sz="2999" b="true">
                <a:solidFill>
                  <a:srgbClr val="2A2E3A"/>
                </a:solidFill>
                <a:latin typeface="Helios Bold"/>
                <a:ea typeface="Helios Bold"/>
                <a:cs typeface="Helios Bold"/>
                <a:sym typeface="Helios Bold"/>
              </a:rPr>
              <a:t>Position:</a:t>
            </a:r>
            <a:r>
              <a:rPr lang="en-US" sz="2999">
                <a:solidFill>
                  <a:srgbClr val="2A2E3A"/>
                </a:solidFill>
                <a:latin typeface="Helios"/>
                <a:ea typeface="Helios"/>
                <a:cs typeface="Helios"/>
                <a:sym typeface="Helios"/>
              </a:rPr>
              <a:t> Summer Research Intern (AI/ML), Remote</a:t>
            </a:r>
          </a:p>
          <a:p>
            <a:pPr algn="l">
              <a:lnSpc>
                <a:spcPts val="4499"/>
              </a:lnSpc>
            </a:pPr>
            <a:r>
              <a:rPr lang="en-US" sz="2999" b="true">
                <a:solidFill>
                  <a:srgbClr val="2A2E3A"/>
                </a:solidFill>
                <a:latin typeface="Helios Bold"/>
                <a:ea typeface="Helios Bold"/>
                <a:cs typeface="Helios Bold"/>
                <a:sym typeface="Helios Bold"/>
              </a:rPr>
              <a:t>Host Institution:</a:t>
            </a:r>
            <a:r>
              <a:rPr lang="en-US" sz="2999">
                <a:solidFill>
                  <a:srgbClr val="2A2E3A"/>
                </a:solidFill>
                <a:latin typeface="Helios"/>
                <a:ea typeface="Helios"/>
                <a:cs typeface="Helios"/>
                <a:sym typeface="Helios"/>
              </a:rPr>
              <a:t> Shanghai Jiao Tong University (SJTU), China</a:t>
            </a:r>
          </a:p>
          <a:p>
            <a:pPr algn="l">
              <a:lnSpc>
                <a:spcPts val="4499"/>
              </a:lnSpc>
            </a:pPr>
            <a:r>
              <a:rPr lang="en-US" sz="2999">
                <a:solidFill>
                  <a:srgbClr val="2A2E3A"/>
                </a:solidFill>
                <a:latin typeface="Helios"/>
                <a:ea typeface="Helios"/>
                <a:cs typeface="Helios"/>
                <a:sym typeface="Helios"/>
              </a:rPr>
              <a:t>One of the top research universities in the world</a:t>
            </a:r>
          </a:p>
          <a:p>
            <a:pPr algn="l">
              <a:lnSpc>
                <a:spcPts val="4499"/>
              </a:lnSpc>
            </a:pPr>
            <a:r>
              <a:rPr lang="en-US" sz="2999" b="true">
                <a:solidFill>
                  <a:srgbClr val="2A2E3A"/>
                </a:solidFill>
                <a:latin typeface="Helios Bold"/>
                <a:ea typeface="Helios Bold"/>
                <a:cs typeface="Helios Bold"/>
                <a:sym typeface="Helios Bold"/>
              </a:rPr>
              <a:t>Supervision:</a:t>
            </a:r>
            <a:r>
              <a:rPr lang="en-US" sz="2999">
                <a:solidFill>
                  <a:srgbClr val="2A2E3A"/>
                </a:solidFill>
                <a:latin typeface="Helios"/>
                <a:ea typeface="Helios"/>
                <a:cs typeface="Helios"/>
                <a:sym typeface="Helios"/>
              </a:rPr>
              <a:t> Coordinated by Dr. Chaoxiang He</a:t>
            </a:r>
          </a:p>
          <a:p>
            <a:pPr algn="l">
              <a:lnSpc>
                <a:spcPts val="4499"/>
              </a:lnSpc>
            </a:pPr>
            <a:r>
              <a:rPr lang="en-US" sz="2999" b="true">
                <a:solidFill>
                  <a:srgbClr val="2A2E3A"/>
                </a:solidFill>
                <a:latin typeface="Helios Bold"/>
                <a:ea typeface="Helios Bold"/>
                <a:cs typeface="Helios Bold"/>
                <a:sym typeface="Helios Bold"/>
              </a:rPr>
              <a:t>Project Area:</a:t>
            </a:r>
            <a:r>
              <a:rPr lang="en-US" sz="2999">
                <a:solidFill>
                  <a:srgbClr val="2A2E3A"/>
                </a:solidFill>
                <a:latin typeface="Helios"/>
                <a:ea typeface="Helios"/>
                <a:cs typeface="Helios"/>
                <a:sym typeface="Helios"/>
              </a:rPr>
              <a:t> AI for medical imaging </a:t>
            </a:r>
          </a:p>
          <a:p>
            <a:pPr algn="l">
              <a:lnSpc>
                <a:spcPts val="4499"/>
              </a:lnSpc>
            </a:pPr>
            <a:r>
              <a:rPr lang="en-US" sz="2999" b="true">
                <a:solidFill>
                  <a:srgbClr val="2A2E3A"/>
                </a:solidFill>
                <a:latin typeface="Helios Bold"/>
                <a:ea typeface="Helios Bold"/>
                <a:cs typeface="Helios Bold"/>
                <a:sym typeface="Helios Bold"/>
              </a:rPr>
              <a:t>Duration:</a:t>
            </a:r>
            <a:r>
              <a:rPr lang="en-US" sz="2999">
                <a:solidFill>
                  <a:srgbClr val="2A2E3A"/>
                </a:solidFill>
                <a:latin typeface="Helios"/>
                <a:ea typeface="Helios"/>
                <a:cs typeface="Helios"/>
                <a:sym typeface="Helios"/>
              </a:rPr>
              <a:t> May – August 2025</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19174"/>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TextBox 5" id="5"/>
          <p:cNvSpPr txBox="true"/>
          <p:nvPr/>
        </p:nvSpPr>
        <p:spPr>
          <a:xfrm rot="0">
            <a:off x="1028700" y="965834"/>
            <a:ext cx="10325028" cy="822324"/>
          </a:xfrm>
          <a:prstGeom prst="rect">
            <a:avLst/>
          </a:prstGeom>
        </p:spPr>
        <p:txBody>
          <a:bodyPr anchor="t" rtlCol="false" tIns="0" lIns="0" bIns="0" rIns="0">
            <a:spAutoFit/>
          </a:bodyPr>
          <a:lstStyle/>
          <a:p>
            <a:pPr algn="l">
              <a:lnSpc>
                <a:spcPts val="6500"/>
              </a:lnSpc>
            </a:pPr>
            <a:r>
              <a:rPr lang="en-US" b="true" sz="5000">
                <a:solidFill>
                  <a:srgbClr val="2A2E3A"/>
                </a:solidFill>
                <a:latin typeface="Klein Bold"/>
                <a:ea typeface="Klein Bold"/>
                <a:cs typeface="Klein Bold"/>
                <a:sym typeface="Klein Bold"/>
              </a:rPr>
              <a:t>Problem Statement</a:t>
            </a:r>
          </a:p>
        </p:txBody>
      </p:sp>
      <p:sp>
        <p:nvSpPr>
          <p:cNvPr name="TextBox 6" id="6"/>
          <p:cNvSpPr txBox="true"/>
          <p:nvPr/>
        </p:nvSpPr>
        <p:spPr>
          <a:xfrm rot="0">
            <a:off x="1028700" y="2407283"/>
            <a:ext cx="16230600" cy="2266950"/>
          </a:xfrm>
          <a:prstGeom prst="rect">
            <a:avLst/>
          </a:prstGeom>
        </p:spPr>
        <p:txBody>
          <a:bodyPr anchor="t" rtlCol="false" tIns="0" lIns="0" bIns="0" rIns="0">
            <a:spAutoFit/>
          </a:bodyPr>
          <a:lstStyle/>
          <a:p>
            <a:pPr algn="l" marL="647702" indent="-323851" lvl="1">
              <a:lnSpc>
                <a:spcPts val="4500"/>
              </a:lnSpc>
              <a:buFont typeface="Arial"/>
              <a:buChar char="•"/>
            </a:pPr>
            <a:r>
              <a:rPr lang="en-US" sz="3000">
                <a:solidFill>
                  <a:srgbClr val="2A2E3A"/>
                </a:solidFill>
                <a:latin typeface="Helios"/>
                <a:ea typeface="Helios"/>
                <a:cs typeface="Helios"/>
                <a:sym typeface="Helios"/>
              </a:rPr>
              <a:t>Hospitals generate large numbers of medical scans such as </a:t>
            </a:r>
            <a:r>
              <a:rPr lang="en-US" b="true" sz="3000">
                <a:solidFill>
                  <a:srgbClr val="2A2E3A"/>
                </a:solidFill>
                <a:latin typeface="Helios Bold"/>
                <a:ea typeface="Helios Bold"/>
                <a:cs typeface="Helios Bold"/>
                <a:sym typeface="Helios Bold"/>
              </a:rPr>
              <a:t>MRI, CT,</a:t>
            </a:r>
            <a:r>
              <a:rPr lang="en-US" sz="3000">
                <a:solidFill>
                  <a:srgbClr val="2A2E3A"/>
                </a:solidFill>
                <a:latin typeface="Helios"/>
                <a:ea typeface="Helios"/>
                <a:cs typeface="Helios"/>
                <a:sym typeface="Helios"/>
              </a:rPr>
              <a:t> </a:t>
            </a:r>
            <a:r>
              <a:rPr lang="en-US" b="true" sz="3000">
                <a:solidFill>
                  <a:srgbClr val="2A2E3A"/>
                </a:solidFill>
                <a:latin typeface="Helios Bold"/>
                <a:ea typeface="Helios Bold"/>
                <a:cs typeface="Helios Bold"/>
                <a:sym typeface="Helios Bold"/>
              </a:rPr>
              <a:t>and X-ray</a:t>
            </a:r>
          </a:p>
          <a:p>
            <a:pPr algn="l" marL="647702" indent="-323851" lvl="1">
              <a:lnSpc>
                <a:spcPts val="4500"/>
              </a:lnSpc>
              <a:buFont typeface="Arial"/>
              <a:buChar char="•"/>
            </a:pPr>
            <a:r>
              <a:rPr lang="en-US" sz="3000">
                <a:solidFill>
                  <a:srgbClr val="2A2E3A"/>
                </a:solidFill>
                <a:latin typeface="Helios"/>
                <a:ea typeface="Helios"/>
                <a:cs typeface="Helios"/>
                <a:sym typeface="Helios"/>
              </a:rPr>
              <a:t>Existing AI systems work well </a:t>
            </a:r>
            <a:r>
              <a:rPr lang="en-US" b="true" sz="3000">
                <a:solidFill>
                  <a:srgbClr val="2A2E3A"/>
                </a:solidFill>
                <a:latin typeface="Helios Bold"/>
                <a:ea typeface="Helios Bold"/>
                <a:cs typeface="Helios Bold"/>
                <a:sym typeface="Helios Bold"/>
              </a:rPr>
              <a:t>only on the type of data they are trained on</a:t>
            </a:r>
          </a:p>
          <a:p>
            <a:pPr algn="l" marL="647702" indent="-323851" lvl="1">
              <a:lnSpc>
                <a:spcPts val="4500"/>
              </a:lnSpc>
              <a:buFont typeface="Arial"/>
              <a:buChar char="•"/>
            </a:pPr>
            <a:r>
              <a:rPr lang="en-US" sz="3000">
                <a:solidFill>
                  <a:srgbClr val="2A2E3A"/>
                </a:solidFill>
                <a:latin typeface="Helios"/>
                <a:ea typeface="Helios"/>
                <a:cs typeface="Helios"/>
                <a:sym typeface="Helios"/>
              </a:rPr>
              <a:t>Accuracy drops sharply when they see </a:t>
            </a:r>
            <a:r>
              <a:rPr lang="en-US" b="true" sz="3000">
                <a:solidFill>
                  <a:srgbClr val="2A2E3A"/>
                </a:solidFill>
                <a:latin typeface="Helios Bold"/>
                <a:ea typeface="Helios Bold"/>
                <a:cs typeface="Helios Bold"/>
                <a:sym typeface="Helios Bold"/>
              </a:rPr>
              <a:t>new or unseen scan types</a:t>
            </a:r>
          </a:p>
          <a:p>
            <a:pPr algn="l" marL="647702" indent="-323851" lvl="1">
              <a:lnSpc>
                <a:spcPts val="4500"/>
              </a:lnSpc>
              <a:buFont typeface="Arial"/>
              <a:buChar char="•"/>
            </a:pPr>
            <a:r>
              <a:rPr lang="en-US" sz="3000">
                <a:solidFill>
                  <a:srgbClr val="2A2E3A"/>
                </a:solidFill>
                <a:latin typeface="Helios"/>
                <a:ea typeface="Helios"/>
                <a:cs typeface="Helios"/>
                <a:sym typeface="Helios"/>
              </a:rPr>
              <a:t>There is a need for a system that is </a:t>
            </a:r>
            <a:r>
              <a:rPr lang="en-US" b="true" sz="3000">
                <a:solidFill>
                  <a:srgbClr val="2A2E3A"/>
                </a:solidFill>
                <a:latin typeface="Helios Bold"/>
                <a:ea typeface="Helios Bold"/>
                <a:cs typeface="Helios Bold"/>
                <a:sym typeface="Helios Bold"/>
              </a:rPr>
              <a:t>reliable, efficient, and generalizes better</a:t>
            </a:r>
          </a:p>
        </p:txBody>
      </p:sp>
      <p:sp>
        <p:nvSpPr>
          <p:cNvPr name="TextBox 7" id="7"/>
          <p:cNvSpPr txBox="true"/>
          <p:nvPr/>
        </p:nvSpPr>
        <p:spPr>
          <a:xfrm rot="0">
            <a:off x="1028700" y="5321933"/>
            <a:ext cx="6136369" cy="822324"/>
          </a:xfrm>
          <a:prstGeom prst="rect">
            <a:avLst/>
          </a:prstGeom>
        </p:spPr>
        <p:txBody>
          <a:bodyPr anchor="t" rtlCol="false" tIns="0" lIns="0" bIns="0" rIns="0">
            <a:spAutoFit/>
          </a:bodyPr>
          <a:lstStyle/>
          <a:p>
            <a:pPr algn="l">
              <a:lnSpc>
                <a:spcPts val="6500"/>
              </a:lnSpc>
            </a:pPr>
            <a:r>
              <a:rPr lang="en-US" b="true" sz="5000">
                <a:solidFill>
                  <a:srgbClr val="2A2E3A"/>
                </a:solidFill>
                <a:latin typeface="Klein Bold"/>
                <a:ea typeface="Klein Bold"/>
                <a:cs typeface="Klein Bold"/>
                <a:sym typeface="Klein Bold"/>
              </a:rPr>
              <a:t>Motivation</a:t>
            </a:r>
          </a:p>
        </p:txBody>
      </p:sp>
      <p:sp>
        <p:nvSpPr>
          <p:cNvPr name="TextBox 8" id="8"/>
          <p:cNvSpPr txBox="true"/>
          <p:nvPr/>
        </p:nvSpPr>
        <p:spPr>
          <a:xfrm rot="0">
            <a:off x="1028700" y="6772907"/>
            <a:ext cx="16230600" cy="2219326"/>
          </a:xfrm>
          <a:prstGeom prst="rect">
            <a:avLst/>
          </a:prstGeom>
        </p:spPr>
        <p:txBody>
          <a:bodyPr anchor="t" rtlCol="false" tIns="0" lIns="0" bIns="0" rIns="0">
            <a:spAutoFit/>
          </a:bodyPr>
          <a:lstStyle/>
          <a:p>
            <a:pPr algn="l" marL="647697" indent="-323848" lvl="1">
              <a:lnSpc>
                <a:spcPts val="4499"/>
              </a:lnSpc>
              <a:buFont typeface="Arial"/>
              <a:buChar char="•"/>
            </a:pPr>
            <a:r>
              <a:rPr lang="en-US" sz="2999">
                <a:solidFill>
                  <a:srgbClr val="2A2E3A"/>
                </a:solidFill>
                <a:latin typeface="Helios"/>
                <a:ea typeface="Helios"/>
                <a:cs typeface="Helios"/>
                <a:sym typeface="Helios"/>
              </a:rPr>
              <a:t>Shortage of </a:t>
            </a:r>
            <a:r>
              <a:rPr lang="en-US" sz="2999">
                <a:solidFill>
                  <a:srgbClr val="2A2E3A"/>
                </a:solidFill>
                <a:latin typeface="Helios"/>
                <a:ea typeface="Helios"/>
                <a:cs typeface="Helios"/>
                <a:sym typeface="Helios"/>
              </a:rPr>
              <a:t>ra</a:t>
            </a:r>
            <a:r>
              <a:rPr lang="en-US" sz="2999">
                <a:solidFill>
                  <a:srgbClr val="2A2E3A"/>
                </a:solidFill>
                <a:latin typeface="Helios"/>
                <a:ea typeface="Helios"/>
                <a:cs typeface="Helios"/>
                <a:sym typeface="Helios"/>
              </a:rPr>
              <a:t>d</a:t>
            </a:r>
            <a:r>
              <a:rPr lang="en-US" sz="2999">
                <a:solidFill>
                  <a:srgbClr val="2A2E3A"/>
                </a:solidFill>
                <a:latin typeface="Helios"/>
                <a:ea typeface="Helios"/>
                <a:cs typeface="Helios"/>
                <a:sym typeface="Helios"/>
              </a:rPr>
              <a:t>i</a:t>
            </a:r>
            <a:r>
              <a:rPr lang="en-US" sz="2999">
                <a:solidFill>
                  <a:srgbClr val="2A2E3A"/>
                </a:solidFill>
                <a:latin typeface="Helios"/>
                <a:ea typeface="Helios"/>
                <a:cs typeface="Helios"/>
                <a:sym typeface="Helios"/>
              </a:rPr>
              <a:t>olo</a:t>
            </a:r>
            <a:r>
              <a:rPr lang="en-US" sz="2999">
                <a:solidFill>
                  <a:srgbClr val="2A2E3A"/>
                </a:solidFill>
                <a:latin typeface="Helios"/>
                <a:ea typeface="Helios"/>
                <a:cs typeface="Helios"/>
                <a:sym typeface="Helios"/>
              </a:rPr>
              <a:t>g</a:t>
            </a:r>
            <a:r>
              <a:rPr lang="en-US" sz="2999">
                <a:solidFill>
                  <a:srgbClr val="2A2E3A"/>
                </a:solidFill>
                <a:latin typeface="Helios"/>
                <a:ea typeface="Helios"/>
                <a:cs typeface="Helios"/>
                <a:sym typeface="Helios"/>
              </a:rPr>
              <a:t>ists,</a:t>
            </a:r>
            <a:r>
              <a:rPr lang="en-US" sz="2999">
                <a:solidFill>
                  <a:srgbClr val="2A2E3A"/>
                </a:solidFill>
                <a:latin typeface="Helios"/>
                <a:ea typeface="Helios"/>
                <a:cs typeface="Helios"/>
                <a:sym typeface="Helios"/>
              </a:rPr>
              <a:t> especially in</a:t>
            </a:r>
            <a:r>
              <a:rPr lang="en-US" sz="2999">
                <a:solidFill>
                  <a:srgbClr val="2A2E3A"/>
                </a:solidFill>
                <a:latin typeface="Helios"/>
                <a:ea typeface="Helios"/>
                <a:cs typeface="Helios"/>
                <a:sym typeface="Helios"/>
              </a:rPr>
              <a:t> </a:t>
            </a:r>
            <a:r>
              <a:rPr lang="en-US" b="true" sz="2999">
                <a:solidFill>
                  <a:srgbClr val="2A2E3A"/>
                </a:solidFill>
                <a:latin typeface="Helios Bold"/>
                <a:ea typeface="Helios Bold"/>
                <a:cs typeface="Helios Bold"/>
                <a:sym typeface="Helios Bold"/>
              </a:rPr>
              <a:t>rural and low-resource settings</a:t>
            </a:r>
          </a:p>
          <a:p>
            <a:pPr algn="l" marL="647697" indent="-323848" lvl="1">
              <a:lnSpc>
                <a:spcPts val="4499"/>
              </a:lnSpc>
              <a:buFont typeface="Arial"/>
              <a:buChar char="•"/>
            </a:pPr>
            <a:r>
              <a:rPr lang="en-US" sz="2999">
                <a:solidFill>
                  <a:srgbClr val="2A2E3A"/>
                </a:solidFill>
                <a:latin typeface="Helios"/>
                <a:ea typeface="Helios"/>
                <a:cs typeface="Helios"/>
                <a:sym typeface="Helios"/>
              </a:rPr>
              <a:t>AI can act as a </a:t>
            </a:r>
            <a:r>
              <a:rPr lang="en-US" b="true" sz="2999">
                <a:solidFill>
                  <a:srgbClr val="2A2E3A"/>
                </a:solidFill>
                <a:latin typeface="Helios Bold"/>
                <a:ea typeface="Helios Bold"/>
                <a:cs typeface="Helios Bold"/>
                <a:sym typeface="Helios Bold"/>
              </a:rPr>
              <a:t>support tool</a:t>
            </a:r>
            <a:r>
              <a:rPr lang="en-US" sz="2999">
                <a:solidFill>
                  <a:srgbClr val="2A2E3A"/>
                </a:solidFill>
                <a:latin typeface="Helios"/>
                <a:ea typeface="Helios"/>
                <a:cs typeface="Helios"/>
                <a:sym typeface="Helios"/>
              </a:rPr>
              <a:t>, not a replacement            </a:t>
            </a:r>
          </a:p>
          <a:p>
            <a:pPr algn="l" marL="647697" indent="-323848" lvl="1">
              <a:lnSpc>
                <a:spcPts val="4499"/>
              </a:lnSpc>
              <a:buFont typeface="Arial"/>
              <a:buChar char="•"/>
            </a:pPr>
            <a:r>
              <a:rPr lang="en-US" sz="2999">
                <a:solidFill>
                  <a:srgbClr val="2A2E3A"/>
                </a:solidFill>
                <a:latin typeface="Helios"/>
                <a:ea typeface="Helios"/>
                <a:cs typeface="Helios"/>
                <a:sym typeface="Helios"/>
              </a:rPr>
              <a:t>Faster a</a:t>
            </a:r>
            <a:r>
              <a:rPr lang="en-US" sz="2999">
                <a:solidFill>
                  <a:srgbClr val="2A2E3A"/>
                </a:solidFill>
                <a:latin typeface="Helios"/>
                <a:ea typeface="Helios"/>
                <a:cs typeface="Helios"/>
                <a:sym typeface="Helios"/>
              </a:rPr>
              <a:t>nd mor</a:t>
            </a:r>
            <a:r>
              <a:rPr lang="en-US" sz="2999">
                <a:solidFill>
                  <a:srgbClr val="2A2E3A"/>
                </a:solidFill>
                <a:latin typeface="Helios"/>
                <a:ea typeface="Helios"/>
                <a:cs typeface="Helios"/>
                <a:sym typeface="Helios"/>
              </a:rPr>
              <a:t>e</a:t>
            </a:r>
            <a:r>
              <a:rPr lang="en-US" sz="2999">
                <a:solidFill>
                  <a:srgbClr val="2A2E3A"/>
                </a:solidFill>
                <a:latin typeface="Helios"/>
                <a:ea typeface="Helios"/>
                <a:cs typeface="Helios"/>
                <a:sym typeface="Helios"/>
              </a:rPr>
              <a:t> c</a:t>
            </a:r>
            <a:r>
              <a:rPr lang="en-US" sz="2999">
                <a:solidFill>
                  <a:srgbClr val="2A2E3A"/>
                </a:solidFill>
                <a:latin typeface="Helios"/>
                <a:ea typeface="Helios"/>
                <a:cs typeface="Helios"/>
                <a:sym typeface="Helios"/>
              </a:rPr>
              <a:t>o</a:t>
            </a:r>
            <a:r>
              <a:rPr lang="en-US" sz="2999">
                <a:solidFill>
                  <a:srgbClr val="2A2E3A"/>
                </a:solidFill>
                <a:latin typeface="Helios"/>
                <a:ea typeface="Helios"/>
                <a:cs typeface="Helios"/>
                <a:sym typeface="Helios"/>
              </a:rPr>
              <a:t>nsis</a:t>
            </a:r>
            <a:r>
              <a:rPr lang="en-US" sz="2999">
                <a:solidFill>
                  <a:srgbClr val="2A2E3A"/>
                </a:solidFill>
                <a:latin typeface="Helios"/>
                <a:ea typeface="Helios"/>
                <a:cs typeface="Helios"/>
                <a:sym typeface="Helios"/>
              </a:rPr>
              <a:t>te</a:t>
            </a:r>
            <a:r>
              <a:rPr lang="en-US" sz="2999">
                <a:solidFill>
                  <a:srgbClr val="2A2E3A"/>
                </a:solidFill>
                <a:latin typeface="Helios"/>
                <a:ea typeface="Helios"/>
                <a:cs typeface="Helios"/>
                <a:sym typeface="Helios"/>
              </a:rPr>
              <a:t>n</a:t>
            </a:r>
            <a:r>
              <a:rPr lang="en-US" sz="2999">
                <a:solidFill>
                  <a:srgbClr val="2A2E3A"/>
                </a:solidFill>
                <a:latin typeface="Helios"/>
                <a:ea typeface="Helios"/>
                <a:cs typeface="Helios"/>
                <a:sym typeface="Helios"/>
              </a:rPr>
              <a:t>t interpretation reduces </a:t>
            </a:r>
            <a:r>
              <a:rPr lang="en-US" b="true" sz="2999">
                <a:solidFill>
                  <a:srgbClr val="2A2E3A"/>
                </a:solidFill>
                <a:latin typeface="Helios Bold"/>
                <a:ea typeface="Helios Bold"/>
                <a:cs typeface="Helios Bold"/>
                <a:sym typeface="Helios Bold"/>
              </a:rPr>
              <a:t>delay and workload</a:t>
            </a:r>
          </a:p>
          <a:p>
            <a:pPr algn="l" marL="647697" indent="-323848" lvl="1">
              <a:lnSpc>
                <a:spcPts val="4499"/>
              </a:lnSpc>
              <a:buFont typeface="Arial"/>
              <a:buChar char="•"/>
            </a:pPr>
            <a:r>
              <a:rPr lang="en-US" sz="2999">
                <a:solidFill>
                  <a:srgbClr val="2A2E3A"/>
                </a:solidFill>
                <a:latin typeface="Helios"/>
                <a:ea typeface="Helios"/>
                <a:cs typeface="Helios"/>
                <a:sym typeface="Helios"/>
              </a:rPr>
              <a:t>Our approach works with l</a:t>
            </a:r>
            <a:r>
              <a:rPr lang="en-US" b="true" sz="2999">
                <a:solidFill>
                  <a:srgbClr val="2A2E3A"/>
                </a:solidFill>
                <a:latin typeface="Helios Bold"/>
                <a:ea typeface="Helios Bold"/>
                <a:cs typeface="Helios Bold"/>
                <a:sym typeface="Helios Bold"/>
              </a:rPr>
              <a:t>ow computing</a:t>
            </a:r>
            <a:r>
              <a:rPr lang="en-US" sz="2999">
                <a:solidFill>
                  <a:srgbClr val="2A2E3A"/>
                </a:solidFill>
                <a:latin typeface="Helios"/>
                <a:ea typeface="Helios"/>
                <a:cs typeface="Helios"/>
                <a:sym typeface="Helios"/>
              </a:rPr>
              <a:t>, making real deployment practical</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19174"/>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TextBox 5" id="5"/>
          <p:cNvSpPr txBox="true"/>
          <p:nvPr/>
        </p:nvSpPr>
        <p:spPr>
          <a:xfrm rot="0">
            <a:off x="1100973" y="737590"/>
            <a:ext cx="10735760" cy="822324"/>
          </a:xfrm>
          <a:prstGeom prst="rect">
            <a:avLst/>
          </a:prstGeom>
        </p:spPr>
        <p:txBody>
          <a:bodyPr anchor="t" rtlCol="false" tIns="0" lIns="0" bIns="0" rIns="0">
            <a:spAutoFit/>
          </a:bodyPr>
          <a:lstStyle/>
          <a:p>
            <a:pPr algn="l">
              <a:lnSpc>
                <a:spcPts val="6500"/>
              </a:lnSpc>
            </a:pPr>
            <a:r>
              <a:rPr lang="en-US" b="true" sz="5000">
                <a:solidFill>
                  <a:srgbClr val="2A2E3A"/>
                </a:solidFill>
                <a:latin typeface="Klein Bold"/>
                <a:ea typeface="Klein Bold"/>
                <a:cs typeface="Klein Bold"/>
                <a:sym typeface="Klein Bold"/>
              </a:rPr>
              <a:t>WORKFLOW</a:t>
            </a:r>
          </a:p>
        </p:txBody>
      </p:sp>
      <p:sp>
        <p:nvSpPr>
          <p:cNvPr name="TextBox 6" id="6"/>
          <p:cNvSpPr txBox="true"/>
          <p:nvPr/>
        </p:nvSpPr>
        <p:spPr>
          <a:xfrm rot="0">
            <a:off x="1100973" y="1744604"/>
            <a:ext cx="4327922" cy="703262"/>
          </a:xfrm>
          <a:prstGeom prst="rect">
            <a:avLst/>
          </a:prstGeom>
        </p:spPr>
        <p:txBody>
          <a:bodyPr anchor="t" rtlCol="false" tIns="0" lIns="0" bIns="0" rIns="0">
            <a:spAutoFit/>
          </a:bodyPr>
          <a:lstStyle/>
          <a:p>
            <a:pPr algn="ctr">
              <a:lnSpc>
                <a:spcPts val="5600"/>
              </a:lnSpc>
              <a:spcBef>
                <a:spcPct val="0"/>
              </a:spcBef>
            </a:pPr>
            <a:r>
              <a:rPr lang="en-US" b="true" sz="4000">
                <a:solidFill>
                  <a:srgbClr val="718BAB"/>
                </a:solidFill>
                <a:latin typeface="Helios Bold"/>
                <a:ea typeface="Helios Bold"/>
                <a:cs typeface="Helios Bold"/>
                <a:sym typeface="Helios Bold"/>
              </a:rPr>
              <a:t>1.Model Selection</a:t>
            </a:r>
          </a:p>
        </p:txBody>
      </p:sp>
      <p:sp>
        <p:nvSpPr>
          <p:cNvPr name="TextBox 7" id="7"/>
          <p:cNvSpPr txBox="true"/>
          <p:nvPr/>
        </p:nvSpPr>
        <p:spPr>
          <a:xfrm rot="0">
            <a:off x="1028700" y="2762191"/>
            <a:ext cx="16086053" cy="1123950"/>
          </a:xfrm>
          <a:prstGeom prst="rect">
            <a:avLst/>
          </a:prstGeom>
        </p:spPr>
        <p:txBody>
          <a:bodyPr anchor="t" rtlCol="false" tIns="0" lIns="0" bIns="0" rIns="0">
            <a:spAutoFit/>
          </a:bodyPr>
          <a:lstStyle/>
          <a:p>
            <a:pPr algn="l" marL="647702" indent="-323851" lvl="1">
              <a:lnSpc>
                <a:spcPts val="4500"/>
              </a:lnSpc>
              <a:buFont typeface="Arial"/>
              <a:buChar char="•"/>
            </a:pPr>
            <a:r>
              <a:rPr lang="en-US" b="true" sz="3000">
                <a:solidFill>
                  <a:srgbClr val="000000"/>
                </a:solidFill>
                <a:latin typeface="Helios Bold"/>
                <a:ea typeface="Helios Bold"/>
                <a:cs typeface="Helios Bold"/>
                <a:sym typeface="Helios Bold"/>
              </a:rPr>
              <a:t>Qwen2-VL-2B-Instruct</a:t>
            </a:r>
            <a:r>
              <a:rPr lang="en-US" sz="3000">
                <a:solidFill>
                  <a:srgbClr val="000000"/>
                </a:solidFill>
                <a:latin typeface="Helios"/>
                <a:ea typeface="Helios"/>
                <a:cs typeface="Helios"/>
                <a:sym typeface="Helios"/>
              </a:rPr>
              <a:t> →</a:t>
            </a:r>
            <a:r>
              <a:rPr lang="en-US" sz="3000">
                <a:solidFill>
                  <a:srgbClr val="000000"/>
                </a:solidFill>
                <a:latin typeface="Helios"/>
                <a:ea typeface="Helios"/>
                <a:cs typeface="Helios"/>
                <a:sym typeface="Helios"/>
              </a:rPr>
              <a:t> lightweigh</a:t>
            </a:r>
            <a:r>
              <a:rPr lang="en-US" sz="3000">
                <a:solidFill>
                  <a:srgbClr val="000000"/>
                </a:solidFill>
                <a:latin typeface="Helios"/>
                <a:ea typeface="Helios"/>
                <a:cs typeface="Helios"/>
                <a:sym typeface="Helios"/>
              </a:rPr>
              <a:t>t, multimodal, in</a:t>
            </a:r>
            <a:r>
              <a:rPr lang="en-US" sz="3000">
                <a:solidFill>
                  <a:srgbClr val="000000"/>
                </a:solidFill>
                <a:latin typeface="Helios"/>
                <a:ea typeface="Helios"/>
                <a:cs typeface="Helios"/>
                <a:sym typeface="Helios"/>
              </a:rPr>
              <a:t>s</a:t>
            </a:r>
            <a:r>
              <a:rPr lang="en-US" sz="3000">
                <a:solidFill>
                  <a:srgbClr val="000000"/>
                </a:solidFill>
                <a:latin typeface="Helios"/>
                <a:ea typeface="Helios"/>
                <a:cs typeface="Helios"/>
                <a:sym typeface="Helios"/>
              </a:rPr>
              <a:t>truction-tuned</a:t>
            </a:r>
          </a:p>
          <a:p>
            <a:pPr algn="l" marL="647702" indent="-323851" lvl="1">
              <a:lnSpc>
                <a:spcPts val="4500"/>
              </a:lnSpc>
              <a:buFont typeface="Arial"/>
              <a:buChar char="•"/>
            </a:pPr>
            <a:r>
              <a:rPr lang="en-US" sz="3000">
                <a:solidFill>
                  <a:srgbClr val="000000"/>
                </a:solidFill>
                <a:latin typeface="Helios"/>
                <a:ea typeface="Helios"/>
                <a:cs typeface="Helios"/>
                <a:sym typeface="Helios"/>
              </a:rPr>
              <a:t>Ch</a:t>
            </a:r>
            <a:r>
              <a:rPr lang="en-US" sz="3000">
                <a:solidFill>
                  <a:srgbClr val="000000"/>
                </a:solidFill>
                <a:latin typeface="Helios"/>
                <a:ea typeface="Helios"/>
                <a:cs typeface="Helios"/>
                <a:sym typeface="Helios"/>
              </a:rPr>
              <a:t>osen for </a:t>
            </a:r>
            <a:r>
              <a:rPr lang="en-US" b="true" sz="3000">
                <a:solidFill>
                  <a:srgbClr val="000000"/>
                </a:solidFill>
                <a:latin typeface="Helios Bold"/>
                <a:ea typeface="Helios Bold"/>
                <a:cs typeface="Helios Bold"/>
                <a:sym typeface="Helios Bold"/>
              </a:rPr>
              <a:t>strong</a:t>
            </a:r>
            <a:r>
              <a:rPr lang="en-US" sz="3000">
                <a:solidFill>
                  <a:srgbClr val="000000"/>
                </a:solidFill>
                <a:latin typeface="Helios"/>
                <a:ea typeface="Helios"/>
                <a:cs typeface="Helios"/>
                <a:sym typeface="Helios"/>
              </a:rPr>
              <a:t> reasoning withi</a:t>
            </a:r>
            <a:r>
              <a:rPr lang="en-US" sz="3000">
                <a:solidFill>
                  <a:srgbClr val="000000"/>
                </a:solidFill>
                <a:latin typeface="Helios"/>
                <a:ea typeface="Helios"/>
                <a:cs typeface="Helios"/>
                <a:sym typeface="Helios"/>
              </a:rPr>
              <a:t>n</a:t>
            </a:r>
            <a:r>
              <a:rPr lang="en-US" sz="3000">
                <a:solidFill>
                  <a:srgbClr val="000000"/>
                </a:solidFill>
                <a:latin typeface="Helios"/>
                <a:ea typeface="Helios"/>
                <a:cs typeface="Helios"/>
                <a:sym typeface="Helios"/>
              </a:rPr>
              <a:t> </a:t>
            </a:r>
            <a:r>
              <a:rPr lang="en-US" b="true" sz="3000">
                <a:solidFill>
                  <a:srgbClr val="000000"/>
                </a:solidFill>
                <a:latin typeface="Helios Bold"/>
                <a:ea typeface="Helios Bold"/>
                <a:cs typeface="Helios Bold"/>
                <a:sym typeface="Helios Bold"/>
              </a:rPr>
              <a:t>limited</a:t>
            </a:r>
            <a:r>
              <a:rPr lang="en-US" sz="3000">
                <a:solidFill>
                  <a:srgbClr val="000000"/>
                </a:solidFill>
                <a:latin typeface="Helios"/>
                <a:ea typeface="Helios"/>
                <a:cs typeface="Helios"/>
                <a:sym typeface="Helios"/>
              </a:rPr>
              <a:t> compute </a:t>
            </a:r>
            <a:r>
              <a:rPr lang="en-US" sz="3000">
                <a:solidFill>
                  <a:srgbClr val="000000"/>
                </a:solidFill>
                <a:latin typeface="Helios"/>
                <a:ea typeface="Helios"/>
                <a:cs typeface="Helios"/>
                <a:sym typeface="Helios"/>
              </a:rPr>
              <a:t>budgets</a:t>
            </a:r>
          </a:p>
        </p:txBody>
      </p:sp>
      <p:sp>
        <p:nvSpPr>
          <p:cNvPr name="TextBox 8" id="8"/>
          <p:cNvSpPr txBox="true"/>
          <p:nvPr/>
        </p:nvSpPr>
        <p:spPr>
          <a:xfrm rot="0">
            <a:off x="1028700" y="5353050"/>
            <a:ext cx="14854926" cy="3905250"/>
          </a:xfrm>
          <a:prstGeom prst="rect">
            <a:avLst/>
          </a:prstGeom>
        </p:spPr>
        <p:txBody>
          <a:bodyPr anchor="t" rtlCol="false" tIns="0" lIns="0" bIns="0" rIns="0">
            <a:spAutoFit/>
          </a:bodyPr>
          <a:lstStyle/>
          <a:p>
            <a:pPr algn="l" marL="647698" indent="-323849" lvl="1">
              <a:lnSpc>
                <a:spcPts val="4499"/>
              </a:lnSpc>
              <a:buFont typeface="Arial"/>
              <a:buChar char="•"/>
            </a:pPr>
            <a:r>
              <a:rPr lang="en-US" b="true" sz="2999">
                <a:solidFill>
                  <a:srgbClr val="000000"/>
                </a:solidFill>
                <a:latin typeface="Helios Bold"/>
                <a:ea typeface="Helios Bold"/>
                <a:cs typeface="Helios Bold"/>
                <a:sym typeface="Helios Bold"/>
              </a:rPr>
              <a:t>OmniMedVQA</a:t>
            </a:r>
            <a:r>
              <a:rPr lang="en-US" sz="2999">
                <a:solidFill>
                  <a:srgbClr val="000000"/>
                </a:solidFill>
                <a:latin typeface="Helios"/>
                <a:ea typeface="Helios"/>
                <a:cs typeface="Helios"/>
                <a:sym typeface="Helios"/>
              </a:rPr>
              <a:t> → Public b</a:t>
            </a:r>
            <a:r>
              <a:rPr lang="en-US" sz="2999">
                <a:solidFill>
                  <a:srgbClr val="000000"/>
                </a:solidFill>
                <a:latin typeface="Helios"/>
                <a:ea typeface="Helios"/>
                <a:cs typeface="Helios"/>
                <a:sym typeface="Helios"/>
              </a:rPr>
              <a:t>enchmark for M</a:t>
            </a:r>
            <a:r>
              <a:rPr lang="en-US" sz="2999">
                <a:solidFill>
                  <a:srgbClr val="000000"/>
                </a:solidFill>
                <a:latin typeface="Helios"/>
                <a:ea typeface="Helios"/>
                <a:cs typeface="Helios"/>
                <a:sym typeface="Helios"/>
              </a:rPr>
              <a:t>edical VQA across MRI, CT, X-</a:t>
            </a:r>
            <a:r>
              <a:rPr lang="en-US" sz="2999">
                <a:solidFill>
                  <a:srgbClr val="000000"/>
                </a:solidFill>
                <a:latin typeface="Helios"/>
                <a:ea typeface="Helios"/>
                <a:cs typeface="Helios"/>
                <a:sym typeface="Helios"/>
              </a:rPr>
              <a:t>ra</a:t>
            </a:r>
            <a:r>
              <a:rPr lang="en-US" sz="2999">
                <a:solidFill>
                  <a:srgbClr val="000000"/>
                </a:solidFill>
                <a:latin typeface="Helios"/>
                <a:ea typeface="Helios"/>
                <a:cs typeface="Helios"/>
                <a:sym typeface="Helios"/>
              </a:rPr>
              <a:t>y modaliti</a:t>
            </a:r>
            <a:r>
              <a:rPr lang="en-US" sz="2999">
                <a:solidFill>
                  <a:srgbClr val="000000"/>
                </a:solidFill>
                <a:latin typeface="Helios"/>
                <a:ea typeface="Helios"/>
                <a:cs typeface="Helios"/>
                <a:sym typeface="Helios"/>
              </a:rPr>
              <a:t>e</a:t>
            </a:r>
            <a:r>
              <a:rPr lang="en-US" sz="2999">
                <a:solidFill>
                  <a:srgbClr val="000000"/>
                </a:solidFill>
                <a:latin typeface="Helios"/>
                <a:ea typeface="Helios"/>
                <a:cs typeface="Helios"/>
                <a:sym typeface="Helios"/>
              </a:rPr>
              <a:t>s</a:t>
            </a:r>
          </a:p>
          <a:p>
            <a:pPr algn="l" marL="647698" indent="-323849" lvl="1">
              <a:lnSpc>
                <a:spcPts val="4499"/>
              </a:lnSpc>
              <a:buFont typeface="Arial"/>
              <a:buChar char="•"/>
            </a:pPr>
            <a:r>
              <a:rPr lang="en-US" sz="2999">
                <a:solidFill>
                  <a:srgbClr val="000000"/>
                </a:solidFill>
                <a:latin typeface="Helios"/>
                <a:ea typeface="Helios"/>
                <a:cs typeface="Helios"/>
                <a:sym typeface="Helios"/>
              </a:rPr>
              <a:t>Each sample = </a:t>
            </a:r>
            <a:r>
              <a:rPr lang="en-US" b="true" sz="2999">
                <a:solidFill>
                  <a:srgbClr val="000000"/>
                </a:solidFill>
                <a:latin typeface="Helios Bold"/>
                <a:ea typeface="Helios Bold"/>
                <a:cs typeface="Helios Bold"/>
                <a:sym typeface="Helios Bold"/>
              </a:rPr>
              <a:t>image + question + 4 options + ground-truth answer</a:t>
            </a:r>
          </a:p>
          <a:p>
            <a:pPr algn="l" marL="647698" indent="-323849" lvl="1">
              <a:lnSpc>
                <a:spcPts val="4499"/>
              </a:lnSpc>
              <a:buFont typeface="Arial"/>
              <a:buChar char="•"/>
            </a:pPr>
            <a:r>
              <a:rPr lang="en-US" b="true" sz="2999">
                <a:solidFill>
                  <a:srgbClr val="000000"/>
                </a:solidFill>
                <a:latin typeface="Helios Bold"/>
                <a:ea typeface="Helios Bold"/>
                <a:cs typeface="Helios Bold"/>
                <a:sym typeface="Helios Bold"/>
              </a:rPr>
              <a:t>Split:</a:t>
            </a:r>
          </a:p>
          <a:p>
            <a:pPr algn="l">
              <a:lnSpc>
                <a:spcPts val="4499"/>
              </a:lnSpc>
            </a:pPr>
            <a:r>
              <a:rPr lang="en-US" sz="2999">
                <a:solidFill>
                  <a:srgbClr val="000000"/>
                </a:solidFill>
                <a:latin typeface="Helios"/>
                <a:ea typeface="Helios"/>
                <a:cs typeface="Helios"/>
                <a:sym typeface="Helios"/>
              </a:rPr>
              <a:t>             • </a:t>
            </a:r>
            <a:r>
              <a:rPr lang="en-US" sz="2999" b="true">
                <a:solidFill>
                  <a:srgbClr val="000000"/>
                </a:solidFill>
                <a:latin typeface="Helios Bold"/>
                <a:ea typeface="Helios Bold"/>
                <a:cs typeface="Helios Bold"/>
                <a:sym typeface="Helios Bold"/>
              </a:rPr>
              <a:t>Training</a:t>
            </a:r>
            <a:r>
              <a:rPr lang="en-US" sz="2999">
                <a:solidFill>
                  <a:srgbClr val="000000"/>
                </a:solidFill>
                <a:latin typeface="Helios"/>
                <a:ea typeface="Helios"/>
                <a:cs typeface="Helios"/>
                <a:sym typeface="Helios"/>
              </a:rPr>
              <a:t>: 1,000 MRI (100 validation)</a:t>
            </a:r>
          </a:p>
          <a:p>
            <a:pPr algn="l">
              <a:lnSpc>
                <a:spcPts val="4499"/>
              </a:lnSpc>
            </a:pPr>
            <a:r>
              <a:rPr lang="en-US" sz="2999">
                <a:solidFill>
                  <a:srgbClr val="000000"/>
                </a:solidFill>
                <a:latin typeface="Helios"/>
                <a:ea typeface="Helios"/>
                <a:cs typeface="Helios"/>
                <a:sym typeface="Helios"/>
              </a:rPr>
              <a:t>             • </a:t>
            </a:r>
            <a:r>
              <a:rPr lang="en-US" sz="2999" b="true">
                <a:solidFill>
                  <a:srgbClr val="000000"/>
                </a:solidFill>
                <a:latin typeface="Helios Bold"/>
                <a:ea typeface="Helios Bold"/>
                <a:cs typeface="Helios Bold"/>
                <a:sym typeface="Helios Bold"/>
              </a:rPr>
              <a:t>Testing:</a:t>
            </a:r>
            <a:r>
              <a:rPr lang="en-US" sz="2999">
                <a:solidFill>
                  <a:srgbClr val="000000"/>
                </a:solidFill>
                <a:latin typeface="Helios"/>
                <a:ea typeface="Helios"/>
                <a:cs typeface="Helios"/>
                <a:sym typeface="Helios"/>
              </a:rPr>
              <a:t> </a:t>
            </a:r>
            <a:r>
              <a:rPr lang="en-US" sz="2999">
                <a:solidFill>
                  <a:srgbClr val="000000"/>
                </a:solidFill>
                <a:latin typeface="Helios"/>
                <a:ea typeface="Helios"/>
                <a:cs typeface="Helios"/>
                <a:sym typeface="Helios"/>
              </a:rPr>
              <a:t>300 MRI (in-dom</a:t>
            </a:r>
            <a:r>
              <a:rPr lang="en-US" sz="2999">
                <a:solidFill>
                  <a:srgbClr val="000000"/>
                </a:solidFill>
                <a:latin typeface="Helios"/>
                <a:ea typeface="Helios"/>
                <a:cs typeface="Helios"/>
                <a:sym typeface="Helios"/>
              </a:rPr>
              <a:t>ain), 300 CT &amp; 300 X-ray (out-of-domain)</a:t>
            </a:r>
          </a:p>
          <a:p>
            <a:pPr algn="l" marL="647698" indent="-323849" lvl="1">
              <a:lnSpc>
                <a:spcPts val="4499"/>
              </a:lnSpc>
              <a:buFont typeface="Arial"/>
              <a:buChar char="•"/>
            </a:pPr>
            <a:r>
              <a:rPr lang="en-US" sz="2999">
                <a:solidFill>
                  <a:srgbClr val="000000"/>
                </a:solidFill>
                <a:latin typeface="Helios"/>
                <a:ea typeface="Helios"/>
                <a:cs typeface="Helios"/>
                <a:sym typeface="Helios"/>
              </a:rPr>
              <a:t>Covers d</a:t>
            </a:r>
            <a:r>
              <a:rPr lang="en-US" sz="2999">
                <a:solidFill>
                  <a:srgbClr val="000000"/>
                </a:solidFill>
                <a:latin typeface="Helios"/>
                <a:ea typeface="Helios"/>
                <a:cs typeface="Helios"/>
                <a:sym typeface="Helios"/>
              </a:rPr>
              <a:t>iverse body regions, making it ideal for generalization studies</a:t>
            </a:r>
          </a:p>
        </p:txBody>
      </p:sp>
      <p:sp>
        <p:nvSpPr>
          <p:cNvPr name="TextBox 9" id="9"/>
          <p:cNvSpPr txBox="true"/>
          <p:nvPr/>
        </p:nvSpPr>
        <p:spPr>
          <a:xfrm rot="0">
            <a:off x="1100973" y="4323762"/>
            <a:ext cx="16260483" cy="703262"/>
          </a:xfrm>
          <a:prstGeom prst="rect">
            <a:avLst/>
          </a:prstGeom>
        </p:spPr>
        <p:txBody>
          <a:bodyPr anchor="t" rtlCol="false" tIns="0" lIns="0" bIns="0" rIns="0">
            <a:spAutoFit/>
          </a:bodyPr>
          <a:lstStyle/>
          <a:p>
            <a:pPr algn="l">
              <a:lnSpc>
                <a:spcPts val="5600"/>
              </a:lnSpc>
              <a:spcBef>
                <a:spcPct val="0"/>
              </a:spcBef>
            </a:pPr>
            <a:r>
              <a:rPr lang="en-US" b="true" sz="4000">
                <a:solidFill>
                  <a:srgbClr val="718BAB"/>
                </a:solidFill>
                <a:latin typeface="Helios Bold"/>
                <a:ea typeface="Helios Bold"/>
                <a:cs typeface="Helios Bold"/>
                <a:sym typeface="Helios Bold"/>
              </a:rPr>
              <a:t>2</a:t>
            </a:r>
            <a:r>
              <a:rPr lang="en-US" b="true" sz="4000">
                <a:solidFill>
                  <a:srgbClr val="718BAB"/>
                </a:solidFill>
                <a:latin typeface="Helios Bold"/>
                <a:ea typeface="Helios Bold"/>
                <a:cs typeface="Helios Bold"/>
                <a:sym typeface="Helios Bold"/>
              </a:rPr>
              <a:t>.Dataset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19174"/>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7956712" y="1028700"/>
            <a:ext cx="9302588" cy="4963271"/>
          </a:xfrm>
          <a:custGeom>
            <a:avLst/>
            <a:gdLst/>
            <a:ahLst/>
            <a:cxnLst/>
            <a:rect r="r" b="b" t="t" l="l"/>
            <a:pathLst>
              <a:path h="4963271" w="9302588">
                <a:moveTo>
                  <a:pt x="0" y="0"/>
                </a:moveTo>
                <a:lnTo>
                  <a:pt x="9302588" y="0"/>
                </a:lnTo>
                <a:lnTo>
                  <a:pt x="9302588" y="4963271"/>
                </a:lnTo>
                <a:lnTo>
                  <a:pt x="0" y="4963271"/>
                </a:lnTo>
                <a:lnTo>
                  <a:pt x="0" y="0"/>
                </a:lnTo>
                <a:close/>
              </a:path>
            </a:pathLst>
          </a:custGeom>
          <a:blipFill>
            <a:blip r:embed="rId2"/>
            <a:stretch>
              <a:fillRect l="0" t="0" r="0" b="0"/>
            </a:stretch>
          </a:blipFill>
        </p:spPr>
      </p:sp>
      <p:sp>
        <p:nvSpPr>
          <p:cNvPr name="TextBox 6" id="6"/>
          <p:cNvSpPr txBox="true"/>
          <p:nvPr/>
        </p:nvSpPr>
        <p:spPr>
          <a:xfrm rot="0">
            <a:off x="1028700" y="6143839"/>
            <a:ext cx="3617268" cy="561657"/>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Helios Bold"/>
                <a:ea typeface="Helios Bold"/>
                <a:cs typeface="Helios Bold"/>
                <a:sym typeface="Helios Bold"/>
              </a:rPr>
              <a:t>2.2.Prompt Format</a:t>
            </a:r>
          </a:p>
        </p:txBody>
      </p:sp>
      <p:sp>
        <p:nvSpPr>
          <p:cNvPr name="TextBox 7" id="7"/>
          <p:cNvSpPr txBox="true"/>
          <p:nvPr/>
        </p:nvSpPr>
        <p:spPr>
          <a:xfrm rot="0">
            <a:off x="1028700" y="7019822"/>
            <a:ext cx="16086053" cy="1695450"/>
          </a:xfrm>
          <a:prstGeom prst="rect">
            <a:avLst/>
          </a:prstGeom>
        </p:spPr>
        <p:txBody>
          <a:bodyPr anchor="t" rtlCol="false" tIns="0" lIns="0" bIns="0" rIns="0">
            <a:spAutoFit/>
          </a:bodyPr>
          <a:lstStyle/>
          <a:p>
            <a:pPr algn="l">
              <a:lnSpc>
                <a:spcPts val="4500"/>
              </a:lnSpc>
            </a:pPr>
            <a:r>
              <a:rPr lang="en-US" sz="3000" i="true">
                <a:solidFill>
                  <a:srgbClr val="000000"/>
                </a:solidFill>
                <a:latin typeface="Helios Italics"/>
                <a:ea typeface="Helios Italics"/>
                <a:cs typeface="Helios Italics"/>
                <a:sym typeface="Helios Italics"/>
              </a:rPr>
              <a:t>1. Generate step-by-step reasoning enclosed within &lt;think&gt;...&lt;/think&gt; tags.</a:t>
            </a:r>
          </a:p>
          <a:p>
            <a:pPr algn="l">
              <a:lnSpc>
                <a:spcPts val="4500"/>
              </a:lnSpc>
            </a:pPr>
            <a:r>
              <a:rPr lang="en-US" sz="3000" i="true">
                <a:solidFill>
                  <a:srgbClr val="000000"/>
                </a:solidFill>
                <a:latin typeface="Helios Italics"/>
                <a:ea typeface="Helios Italics"/>
                <a:cs typeface="Helios Italics"/>
                <a:sym typeface="Helios Italics"/>
              </a:rPr>
              <a:t>2. Provide the final single-letter answer (A, B, C, D, …) inside &lt;answer&gt;...&lt;/answer&gt; tags.</a:t>
            </a:r>
          </a:p>
          <a:p>
            <a:pPr algn="l">
              <a:lnSpc>
                <a:spcPts val="4500"/>
              </a:lnSpc>
              <a:spcBef>
                <a:spcPct val="0"/>
              </a:spcBef>
            </a:pPr>
            <a:r>
              <a:rPr lang="en-US" sz="3000" i="true">
                <a:solidFill>
                  <a:srgbClr val="000000"/>
                </a:solidFill>
                <a:latin typeface="Helios Italics"/>
                <a:ea typeface="Helios Italics"/>
                <a:cs typeface="Helios Italics"/>
                <a:sym typeface="Helios Italics"/>
              </a:rPr>
              <a:t>3. No additional text outside these tags.</a:t>
            </a:r>
          </a:p>
        </p:txBody>
      </p:sp>
      <p:sp>
        <p:nvSpPr>
          <p:cNvPr name="TextBox 8" id="8"/>
          <p:cNvSpPr txBox="true"/>
          <p:nvPr/>
        </p:nvSpPr>
        <p:spPr>
          <a:xfrm rot="0">
            <a:off x="1028700" y="952500"/>
            <a:ext cx="6928012" cy="561657"/>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Helios Bold"/>
                <a:ea typeface="Helios Bold"/>
                <a:cs typeface="Helios Bold"/>
                <a:sym typeface="Helios Bold"/>
              </a:rPr>
              <a:t>2.1.Dataset Structure</a:t>
            </a:r>
          </a:p>
        </p:txBody>
      </p:sp>
      <p:sp>
        <p:nvSpPr>
          <p:cNvPr name="TextBox 9" id="9"/>
          <p:cNvSpPr txBox="true"/>
          <p:nvPr/>
        </p:nvSpPr>
        <p:spPr>
          <a:xfrm rot="0">
            <a:off x="1028700" y="1829014"/>
            <a:ext cx="6715671" cy="3981450"/>
          </a:xfrm>
          <a:prstGeom prst="rect">
            <a:avLst/>
          </a:prstGeom>
        </p:spPr>
        <p:txBody>
          <a:bodyPr anchor="t" rtlCol="false" tIns="0" lIns="0" bIns="0" rIns="0">
            <a:spAutoFit/>
          </a:bodyPr>
          <a:lstStyle/>
          <a:p>
            <a:pPr algn="l" marL="647702" indent="-323851" lvl="1">
              <a:lnSpc>
                <a:spcPts val="4500"/>
              </a:lnSpc>
              <a:buFont typeface="Arial"/>
              <a:buChar char="•"/>
            </a:pPr>
            <a:r>
              <a:rPr lang="en-US" sz="3000">
                <a:solidFill>
                  <a:srgbClr val="000000"/>
                </a:solidFill>
                <a:latin typeface="Helios"/>
                <a:ea typeface="Helios"/>
                <a:cs typeface="Helios"/>
                <a:sym typeface="Helios"/>
              </a:rPr>
              <a:t>Converted the dataset into a </a:t>
            </a:r>
            <a:r>
              <a:rPr lang="en-US" b="true" sz="3000">
                <a:solidFill>
                  <a:srgbClr val="000000"/>
                </a:solidFill>
                <a:latin typeface="Helios Bold"/>
                <a:ea typeface="Helios Bold"/>
                <a:cs typeface="Helios Bold"/>
                <a:sym typeface="Helios Bold"/>
              </a:rPr>
              <a:t>clean and usable format</a:t>
            </a:r>
          </a:p>
          <a:p>
            <a:pPr algn="l">
              <a:lnSpc>
                <a:spcPts val="4500"/>
              </a:lnSpc>
            </a:pPr>
            <a:r>
              <a:rPr lang="en-US" b="true" sz="3000">
                <a:solidFill>
                  <a:srgbClr val="000000"/>
                </a:solidFill>
                <a:latin typeface="Helios Bold"/>
                <a:ea typeface="Helios Bold"/>
                <a:cs typeface="Helios Bold"/>
                <a:sym typeface="Helios Bold"/>
              </a:rPr>
              <a:t>Ensured each sample had:</a:t>
            </a:r>
          </a:p>
          <a:p>
            <a:pPr algn="l" marL="647702" indent="-323851" lvl="1">
              <a:lnSpc>
                <a:spcPts val="4500"/>
              </a:lnSpc>
              <a:buAutoNum type="arabicPeriod" startAt="1"/>
            </a:pPr>
            <a:r>
              <a:rPr lang="en-US" sz="3000">
                <a:solidFill>
                  <a:srgbClr val="000000"/>
                </a:solidFill>
                <a:latin typeface="Helios"/>
                <a:ea typeface="Helios"/>
                <a:cs typeface="Helios"/>
                <a:sym typeface="Helios"/>
              </a:rPr>
              <a:t>medical image</a:t>
            </a:r>
          </a:p>
          <a:p>
            <a:pPr algn="l" marL="647702" indent="-323851" lvl="1">
              <a:lnSpc>
                <a:spcPts val="4500"/>
              </a:lnSpc>
              <a:buAutoNum type="arabicPeriod" startAt="1"/>
            </a:pPr>
            <a:r>
              <a:rPr lang="en-US" sz="3000">
                <a:solidFill>
                  <a:srgbClr val="000000"/>
                </a:solidFill>
                <a:latin typeface="Helios"/>
                <a:ea typeface="Helios"/>
                <a:cs typeface="Helios"/>
                <a:sym typeface="Helios"/>
              </a:rPr>
              <a:t>question</a:t>
            </a:r>
          </a:p>
          <a:p>
            <a:pPr algn="l" marL="647702" indent="-323851" lvl="1">
              <a:lnSpc>
                <a:spcPts val="4500"/>
              </a:lnSpc>
              <a:buAutoNum type="arabicPeriod" startAt="1"/>
            </a:pPr>
            <a:r>
              <a:rPr lang="en-US" sz="3000">
                <a:solidFill>
                  <a:srgbClr val="000000"/>
                </a:solidFill>
                <a:latin typeface="Helios"/>
                <a:ea typeface="Helios"/>
                <a:cs typeface="Helios"/>
                <a:sym typeface="Helios"/>
              </a:rPr>
              <a:t>four answer options</a:t>
            </a:r>
          </a:p>
          <a:p>
            <a:pPr algn="l" marL="647702" indent="-323851" lvl="1">
              <a:lnSpc>
                <a:spcPts val="4500"/>
              </a:lnSpc>
              <a:buAutoNum type="arabicPeriod" startAt="1"/>
            </a:pPr>
            <a:r>
              <a:rPr lang="en-US" sz="3000">
                <a:solidFill>
                  <a:srgbClr val="000000"/>
                </a:solidFill>
                <a:latin typeface="Helios"/>
                <a:ea typeface="Helios"/>
                <a:cs typeface="Helios"/>
                <a:sym typeface="Helios"/>
              </a:rPr>
              <a:t>correct answer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19174"/>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TextBox 5" id="5"/>
          <p:cNvSpPr txBox="true"/>
          <p:nvPr/>
        </p:nvSpPr>
        <p:spPr>
          <a:xfrm rot="0">
            <a:off x="1028700" y="1859022"/>
            <a:ext cx="15782451" cy="10401300"/>
          </a:xfrm>
          <a:prstGeom prst="rect">
            <a:avLst/>
          </a:prstGeom>
        </p:spPr>
        <p:txBody>
          <a:bodyPr anchor="t" rtlCol="false" tIns="0" lIns="0" bIns="0" rIns="0">
            <a:spAutoFit/>
          </a:bodyPr>
          <a:lstStyle/>
          <a:p>
            <a:pPr algn="l" marL="647702" indent="-323851" lvl="1">
              <a:lnSpc>
                <a:spcPts val="4500"/>
              </a:lnSpc>
              <a:buFont typeface="Arial"/>
              <a:buChar char="•"/>
            </a:pPr>
            <a:r>
              <a:rPr lang="en-US" sz="3000">
                <a:solidFill>
                  <a:srgbClr val="000000"/>
                </a:solidFill>
                <a:latin typeface="Helios"/>
                <a:ea typeface="Helios"/>
                <a:cs typeface="Helios"/>
                <a:sym typeface="Helios"/>
              </a:rPr>
              <a:t>Adapted our base model </a:t>
            </a:r>
            <a:r>
              <a:rPr lang="en-US" b="true" sz="3000">
                <a:solidFill>
                  <a:srgbClr val="000000"/>
                </a:solidFill>
                <a:latin typeface="Helios Bold"/>
                <a:ea typeface="Helios Bold"/>
                <a:cs typeface="Helios Bold"/>
                <a:sym typeface="Helios Bold"/>
              </a:rPr>
              <a:t>(Qwen2-VL-2B-Instruct)</a:t>
            </a:r>
            <a:r>
              <a:rPr lang="en-US" sz="3000">
                <a:solidFill>
                  <a:srgbClr val="000000"/>
                </a:solidFill>
                <a:latin typeface="Helios"/>
                <a:ea typeface="Helios"/>
                <a:cs typeface="Helios"/>
                <a:sym typeface="Helios"/>
              </a:rPr>
              <a:t> to understand </a:t>
            </a:r>
            <a:r>
              <a:rPr lang="en-US" b="true" sz="3000">
                <a:solidFill>
                  <a:srgbClr val="000000"/>
                </a:solidFill>
                <a:latin typeface="Helios Bold"/>
                <a:ea typeface="Helios Bold"/>
                <a:cs typeface="Helios Bold"/>
                <a:sym typeface="Helios Bold"/>
              </a:rPr>
              <a:t>MRI</a:t>
            </a:r>
            <a:r>
              <a:rPr lang="en-US" sz="3000">
                <a:solidFill>
                  <a:srgbClr val="000000"/>
                </a:solidFill>
                <a:latin typeface="Helios"/>
                <a:ea typeface="Helios"/>
                <a:cs typeface="Helios"/>
                <a:sym typeface="Helios"/>
              </a:rPr>
              <a:t> scans</a:t>
            </a:r>
          </a:p>
          <a:p>
            <a:pPr algn="l" marL="647702" indent="-323851" lvl="1">
              <a:lnSpc>
                <a:spcPts val="4500"/>
              </a:lnSpc>
              <a:buFont typeface="Arial"/>
              <a:buChar char="•"/>
            </a:pPr>
            <a:r>
              <a:rPr lang="en-US" sz="3000">
                <a:solidFill>
                  <a:srgbClr val="000000"/>
                </a:solidFill>
                <a:latin typeface="Helios"/>
                <a:ea typeface="Helios"/>
                <a:cs typeface="Helios"/>
                <a:sym typeface="Helios"/>
              </a:rPr>
              <a:t>Used a light-weight training method </a:t>
            </a:r>
            <a:r>
              <a:rPr lang="en-US" b="true" sz="3000">
                <a:solidFill>
                  <a:srgbClr val="000000"/>
                </a:solidFill>
                <a:latin typeface="Helios Bold"/>
                <a:ea typeface="Helios Bold"/>
                <a:cs typeface="Helios Bold"/>
                <a:sym typeface="Helios Bold"/>
              </a:rPr>
              <a:t>(LoRA)</a:t>
            </a:r>
            <a:r>
              <a:rPr lang="en-US" sz="3000">
                <a:solidFill>
                  <a:srgbClr val="000000"/>
                </a:solidFill>
                <a:latin typeface="Helios"/>
                <a:ea typeface="Helios"/>
                <a:cs typeface="Helios"/>
                <a:sym typeface="Helios"/>
              </a:rPr>
              <a:t> that updates only small parts of the model instead of the whole network</a:t>
            </a:r>
          </a:p>
          <a:p>
            <a:pPr algn="l" marL="647702" indent="-323851" lvl="1">
              <a:lnSpc>
                <a:spcPts val="4500"/>
              </a:lnSpc>
              <a:buFont typeface="Arial"/>
              <a:buChar char="•"/>
            </a:pPr>
            <a:r>
              <a:rPr lang="en-US" sz="3000">
                <a:solidFill>
                  <a:srgbClr val="000000"/>
                </a:solidFill>
                <a:latin typeface="Helios"/>
                <a:ea typeface="Helios"/>
                <a:cs typeface="Helios"/>
                <a:sym typeface="Helios"/>
              </a:rPr>
              <a:t>This makes </a:t>
            </a:r>
            <a:r>
              <a:rPr lang="en-US" b="true" sz="3000">
                <a:solidFill>
                  <a:srgbClr val="000000"/>
                </a:solidFill>
                <a:latin typeface="Helios Bold"/>
                <a:ea typeface="Helios Bold"/>
                <a:cs typeface="Helios Bold"/>
                <a:sym typeface="Helios Bold"/>
              </a:rPr>
              <a:t>training faster and memory-efficient</a:t>
            </a:r>
          </a:p>
          <a:p>
            <a:pPr algn="l" marL="647702" indent="-323851" lvl="1">
              <a:lnSpc>
                <a:spcPts val="4500"/>
              </a:lnSpc>
              <a:buFont typeface="Arial"/>
              <a:buChar char="•"/>
            </a:pPr>
            <a:r>
              <a:rPr lang="en-US" sz="3000">
                <a:solidFill>
                  <a:srgbClr val="000000"/>
                </a:solidFill>
                <a:latin typeface="Helios"/>
                <a:ea typeface="Helios"/>
                <a:cs typeface="Helios"/>
                <a:sym typeface="Helios"/>
              </a:rPr>
              <a:t>Trained on </a:t>
            </a:r>
            <a:r>
              <a:rPr lang="en-US" b="true" sz="3000">
                <a:solidFill>
                  <a:srgbClr val="000000"/>
                </a:solidFill>
                <a:latin typeface="Helios Bold"/>
                <a:ea typeface="Helios Bold"/>
                <a:cs typeface="Helios Bold"/>
                <a:sym typeface="Helios Bold"/>
              </a:rPr>
              <a:t>1,000 MRI</a:t>
            </a:r>
            <a:r>
              <a:rPr lang="en-US" sz="3000">
                <a:solidFill>
                  <a:srgbClr val="000000"/>
                </a:solidFill>
                <a:latin typeface="Helios"/>
                <a:ea typeface="Helios"/>
                <a:cs typeface="Helios"/>
                <a:sym typeface="Helios"/>
              </a:rPr>
              <a:t> samples to learn medical patterns</a:t>
            </a:r>
          </a:p>
          <a:p>
            <a:pPr algn="l">
              <a:lnSpc>
                <a:spcPts val="4500"/>
              </a:lnSpc>
            </a:pPr>
            <a:r>
              <a:rPr lang="en-US" b="true" sz="3000">
                <a:solidFill>
                  <a:srgbClr val="000000"/>
                </a:solidFill>
                <a:latin typeface="Helios Bold"/>
                <a:ea typeface="Helios Bold"/>
                <a:cs typeface="Helios Bold"/>
                <a:sym typeface="Helios Bold"/>
              </a:rPr>
              <a:t>Result:</a:t>
            </a:r>
          </a:p>
          <a:p>
            <a:pPr algn="l" marL="647702" indent="-323851" lvl="1">
              <a:lnSpc>
                <a:spcPts val="4500"/>
              </a:lnSpc>
              <a:buFont typeface="Arial"/>
              <a:buChar char="•"/>
            </a:pPr>
            <a:r>
              <a:rPr lang="en-US" sz="3000">
                <a:solidFill>
                  <a:srgbClr val="000000"/>
                </a:solidFill>
                <a:latin typeface="Helios"/>
                <a:ea typeface="Helios"/>
                <a:cs typeface="Helios"/>
                <a:sym typeface="Helios"/>
              </a:rPr>
              <a:t>High accuracy on MRI, but still limited when scan type changed</a:t>
            </a:r>
          </a:p>
          <a:p>
            <a:pPr algn="l">
              <a:lnSpc>
                <a:spcPts val="4200"/>
              </a:lnSpc>
              <a:spcBef>
                <a:spcPct val="0"/>
              </a:spcBef>
            </a:pPr>
          </a:p>
          <a:p>
            <a:pPr algn="l">
              <a:lnSpc>
                <a:spcPts val="4200"/>
              </a:lnSpc>
              <a:spcBef>
                <a:spcPct val="0"/>
              </a:spcBef>
            </a:pPr>
          </a:p>
          <a:p>
            <a:pPr algn="l">
              <a:lnSpc>
                <a:spcPts val="4200"/>
              </a:lnSpc>
              <a:spcBef>
                <a:spcPct val="0"/>
              </a:spcBef>
            </a:pPr>
          </a:p>
          <a:p>
            <a:pPr algn="l">
              <a:lnSpc>
                <a:spcPts val="4200"/>
              </a:lnSpc>
              <a:spcBef>
                <a:spcPct val="0"/>
              </a:spcBef>
            </a:pPr>
          </a:p>
          <a:p>
            <a:pPr algn="l">
              <a:lnSpc>
                <a:spcPts val="4200"/>
              </a:lnSpc>
              <a:spcBef>
                <a:spcPct val="0"/>
              </a:spcBef>
            </a:pPr>
          </a:p>
          <a:p>
            <a:pPr algn="l">
              <a:lnSpc>
                <a:spcPts val="4200"/>
              </a:lnSpc>
              <a:spcBef>
                <a:spcPct val="0"/>
              </a:spcBef>
            </a:pPr>
          </a:p>
          <a:p>
            <a:pPr algn="l">
              <a:lnSpc>
                <a:spcPts val="4200"/>
              </a:lnSpc>
              <a:spcBef>
                <a:spcPct val="0"/>
              </a:spcBef>
            </a:pPr>
          </a:p>
          <a:p>
            <a:pPr algn="l">
              <a:lnSpc>
                <a:spcPts val="4200"/>
              </a:lnSpc>
              <a:spcBef>
                <a:spcPct val="0"/>
              </a:spcBef>
            </a:pPr>
          </a:p>
          <a:p>
            <a:pPr algn="l">
              <a:lnSpc>
                <a:spcPts val="4200"/>
              </a:lnSpc>
              <a:spcBef>
                <a:spcPct val="0"/>
              </a:spcBef>
            </a:pPr>
          </a:p>
          <a:p>
            <a:pPr algn="l">
              <a:lnSpc>
                <a:spcPts val="4200"/>
              </a:lnSpc>
              <a:spcBef>
                <a:spcPct val="0"/>
              </a:spcBef>
            </a:pPr>
          </a:p>
          <a:p>
            <a:pPr algn="l">
              <a:lnSpc>
                <a:spcPts val="4200"/>
              </a:lnSpc>
              <a:spcBef>
                <a:spcPct val="0"/>
              </a:spcBef>
            </a:pPr>
            <a:r>
              <a:rPr lang="en-US" sz="3000">
                <a:solidFill>
                  <a:srgbClr val="000000"/>
                </a:solidFill>
                <a:latin typeface="Helios"/>
                <a:ea typeface="Helios"/>
                <a:cs typeface="Helios"/>
                <a:sym typeface="Helios"/>
              </a:rPr>
              <a:t>Data Format (JSONL):</a:t>
            </a:r>
          </a:p>
          <a:p>
            <a:pPr algn="l">
              <a:lnSpc>
                <a:spcPts val="4200"/>
              </a:lnSpc>
              <a:spcBef>
                <a:spcPct val="0"/>
              </a:spcBef>
            </a:pPr>
          </a:p>
        </p:txBody>
      </p:sp>
      <p:sp>
        <p:nvSpPr>
          <p:cNvPr name="Freeform 6" id="6"/>
          <p:cNvSpPr/>
          <p:nvPr/>
        </p:nvSpPr>
        <p:spPr>
          <a:xfrm flipH="false" flipV="false" rot="0">
            <a:off x="1609715" y="6809133"/>
            <a:ext cx="12827826" cy="2265833"/>
          </a:xfrm>
          <a:custGeom>
            <a:avLst/>
            <a:gdLst/>
            <a:ahLst/>
            <a:cxnLst/>
            <a:rect r="r" b="b" t="t" l="l"/>
            <a:pathLst>
              <a:path h="2265833" w="12827826">
                <a:moveTo>
                  <a:pt x="0" y="0"/>
                </a:moveTo>
                <a:lnTo>
                  <a:pt x="12827826" y="0"/>
                </a:lnTo>
                <a:lnTo>
                  <a:pt x="12827826" y="2265833"/>
                </a:lnTo>
                <a:lnTo>
                  <a:pt x="0" y="2265833"/>
                </a:lnTo>
                <a:lnTo>
                  <a:pt x="0" y="0"/>
                </a:lnTo>
                <a:close/>
              </a:path>
            </a:pathLst>
          </a:custGeom>
          <a:blipFill>
            <a:blip r:embed="rId2"/>
            <a:stretch>
              <a:fillRect l="0" t="0" r="0" b="0"/>
            </a:stretch>
          </a:blipFill>
        </p:spPr>
      </p:sp>
      <p:sp>
        <p:nvSpPr>
          <p:cNvPr name="TextBox 7" id="7"/>
          <p:cNvSpPr txBox="true"/>
          <p:nvPr/>
        </p:nvSpPr>
        <p:spPr>
          <a:xfrm rot="0">
            <a:off x="1028700" y="933450"/>
            <a:ext cx="10446666" cy="703262"/>
          </a:xfrm>
          <a:prstGeom prst="rect">
            <a:avLst/>
          </a:prstGeom>
        </p:spPr>
        <p:txBody>
          <a:bodyPr anchor="t" rtlCol="false" tIns="0" lIns="0" bIns="0" rIns="0">
            <a:spAutoFit/>
          </a:bodyPr>
          <a:lstStyle/>
          <a:p>
            <a:pPr algn="l">
              <a:lnSpc>
                <a:spcPts val="5600"/>
              </a:lnSpc>
              <a:spcBef>
                <a:spcPct val="0"/>
              </a:spcBef>
            </a:pPr>
            <a:r>
              <a:rPr lang="en-US" b="true" sz="4000">
                <a:solidFill>
                  <a:srgbClr val="718BAB"/>
                </a:solidFill>
                <a:latin typeface="Helios Bold"/>
                <a:ea typeface="Helios Bold"/>
                <a:cs typeface="Helios Bold"/>
                <a:sym typeface="Helios Bold"/>
              </a:rPr>
              <a:t>4.STAGE 1: </a:t>
            </a:r>
            <a:r>
              <a:rPr lang="en-US" b="true" sz="4000">
                <a:solidFill>
                  <a:srgbClr val="000000"/>
                </a:solidFill>
                <a:latin typeface="Helios Bold"/>
                <a:ea typeface="Helios Bold"/>
                <a:cs typeface="Helios Bold"/>
                <a:sym typeface="Helios Bold"/>
              </a:rPr>
              <a:t>Supervised Fine-Tuning (SFT)</a:t>
            </a:r>
          </a:p>
        </p:txBody>
      </p:sp>
      <p:sp>
        <p:nvSpPr>
          <p:cNvPr name="TextBox 8" id="8"/>
          <p:cNvSpPr txBox="true"/>
          <p:nvPr/>
        </p:nvSpPr>
        <p:spPr>
          <a:xfrm rot="0">
            <a:off x="1028700" y="6121249"/>
            <a:ext cx="4018731" cy="504825"/>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ios Bold"/>
                <a:ea typeface="Helios Bold"/>
                <a:cs typeface="Helios Bold"/>
                <a:sym typeface="Helios Bold"/>
              </a:rPr>
              <a:t>D</a:t>
            </a:r>
            <a:r>
              <a:rPr lang="en-US" b="true" sz="2999">
                <a:solidFill>
                  <a:srgbClr val="000000"/>
                </a:solidFill>
                <a:latin typeface="Helios Bold"/>
                <a:ea typeface="Helios Bold"/>
                <a:cs typeface="Helios Bold"/>
                <a:sym typeface="Helios Bold"/>
              </a:rPr>
              <a:t>ata Format (JSONL):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19174"/>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TextBox 5" id="5"/>
          <p:cNvSpPr txBox="true"/>
          <p:nvPr/>
        </p:nvSpPr>
        <p:spPr>
          <a:xfrm rot="0">
            <a:off x="1028700" y="1970362"/>
            <a:ext cx="11019233" cy="5124450"/>
          </a:xfrm>
          <a:prstGeom prst="rect">
            <a:avLst/>
          </a:prstGeom>
        </p:spPr>
        <p:txBody>
          <a:bodyPr anchor="t" rtlCol="false" tIns="0" lIns="0" bIns="0" rIns="0">
            <a:spAutoFit/>
          </a:bodyPr>
          <a:lstStyle/>
          <a:p>
            <a:pPr algn="l" marL="647702" indent="-323851" lvl="1">
              <a:lnSpc>
                <a:spcPts val="4500"/>
              </a:lnSpc>
              <a:buFont typeface="Arial"/>
              <a:buChar char="•"/>
            </a:pPr>
            <a:r>
              <a:rPr lang="en-US" sz="3000">
                <a:solidFill>
                  <a:srgbClr val="000000"/>
                </a:solidFill>
                <a:latin typeface="Helios"/>
                <a:ea typeface="Helios"/>
                <a:cs typeface="Helios"/>
                <a:sym typeface="Helios"/>
              </a:rPr>
              <a:t>Further improved the model using Direct Preference Optimization </a:t>
            </a:r>
            <a:r>
              <a:rPr lang="en-US" b="true" sz="3000">
                <a:solidFill>
                  <a:srgbClr val="000000"/>
                </a:solidFill>
                <a:latin typeface="Helios Bold"/>
                <a:ea typeface="Helios Bold"/>
                <a:cs typeface="Helios Bold"/>
                <a:sym typeface="Helios Bold"/>
              </a:rPr>
              <a:t>(DPO)</a:t>
            </a:r>
          </a:p>
          <a:p>
            <a:pPr algn="l" marL="647702" indent="-323851" lvl="1">
              <a:lnSpc>
                <a:spcPts val="4500"/>
              </a:lnSpc>
              <a:buFont typeface="Arial"/>
              <a:buChar char="•"/>
            </a:pPr>
            <a:r>
              <a:rPr lang="en-US" sz="3000">
                <a:solidFill>
                  <a:srgbClr val="000000"/>
                </a:solidFill>
                <a:latin typeface="Helios"/>
                <a:ea typeface="Helios"/>
                <a:cs typeface="Helios"/>
                <a:sym typeface="Helios"/>
              </a:rPr>
              <a:t>DPO teaches the system to prefer </a:t>
            </a:r>
            <a:r>
              <a:rPr lang="en-US" b="true" sz="3000">
                <a:solidFill>
                  <a:srgbClr val="000000"/>
                </a:solidFill>
                <a:latin typeface="Helios Bold"/>
                <a:ea typeface="Helios Bold"/>
                <a:cs typeface="Helios Bold"/>
                <a:sym typeface="Helios Bold"/>
              </a:rPr>
              <a:t>better reasoning</a:t>
            </a:r>
            <a:r>
              <a:rPr lang="en-US" sz="3000">
                <a:solidFill>
                  <a:srgbClr val="000000"/>
                </a:solidFill>
                <a:latin typeface="Helios"/>
                <a:ea typeface="Helios"/>
                <a:cs typeface="Helios"/>
                <a:sym typeface="Helios"/>
              </a:rPr>
              <a:t> examples over </a:t>
            </a:r>
            <a:r>
              <a:rPr lang="en-US" b="true" sz="3000">
                <a:solidFill>
                  <a:srgbClr val="000000"/>
                </a:solidFill>
                <a:latin typeface="Helios Bold"/>
                <a:ea typeface="Helios Bold"/>
                <a:cs typeface="Helios Bold"/>
                <a:sym typeface="Helios Bold"/>
              </a:rPr>
              <a:t>weaker ones</a:t>
            </a:r>
          </a:p>
          <a:p>
            <a:pPr algn="l" marL="647702" indent="-323851" lvl="1">
              <a:lnSpc>
                <a:spcPts val="4500"/>
              </a:lnSpc>
              <a:buFont typeface="Arial"/>
              <a:buChar char="•"/>
            </a:pPr>
            <a:r>
              <a:rPr lang="en-US" sz="3000">
                <a:solidFill>
                  <a:srgbClr val="000000"/>
                </a:solidFill>
                <a:latin typeface="Helios"/>
                <a:ea typeface="Helios"/>
                <a:cs typeface="Helios"/>
                <a:sym typeface="Helios"/>
              </a:rPr>
              <a:t>No complex reinforcement setup; </a:t>
            </a:r>
            <a:r>
              <a:rPr lang="en-US" b="true" sz="3000">
                <a:solidFill>
                  <a:srgbClr val="000000"/>
                </a:solidFill>
                <a:latin typeface="Helios Bold"/>
                <a:ea typeface="Helios Bold"/>
                <a:cs typeface="Helios Bold"/>
                <a:sym typeface="Helios Bold"/>
              </a:rPr>
              <a:t>simple and stable</a:t>
            </a:r>
          </a:p>
          <a:p>
            <a:pPr algn="l" marL="647702" indent="-323851" lvl="1">
              <a:lnSpc>
                <a:spcPts val="4500"/>
              </a:lnSpc>
              <a:buFont typeface="Arial"/>
              <a:buChar char="•"/>
            </a:pPr>
            <a:r>
              <a:rPr lang="en-US" sz="3000">
                <a:solidFill>
                  <a:srgbClr val="000000"/>
                </a:solidFill>
                <a:latin typeface="Helios"/>
                <a:ea typeface="Helios"/>
                <a:cs typeface="Helios"/>
                <a:sym typeface="Helios"/>
              </a:rPr>
              <a:t>Helps the model give </a:t>
            </a:r>
            <a:r>
              <a:rPr lang="en-US" b="true" sz="3000">
                <a:solidFill>
                  <a:srgbClr val="000000"/>
                </a:solidFill>
                <a:latin typeface="Helios Bold"/>
                <a:ea typeface="Helios Bold"/>
                <a:cs typeface="Helios Bold"/>
                <a:sym typeface="Helios Bold"/>
              </a:rPr>
              <a:t>more reliable answers</a:t>
            </a:r>
          </a:p>
          <a:p>
            <a:pPr algn="l">
              <a:lnSpc>
                <a:spcPts val="4500"/>
              </a:lnSpc>
            </a:pPr>
            <a:r>
              <a:rPr lang="en-US" sz="3000" b="true">
                <a:solidFill>
                  <a:srgbClr val="000000"/>
                </a:solidFill>
                <a:latin typeface="Helios Bold"/>
                <a:ea typeface="Helios Bold"/>
                <a:cs typeface="Helios Bold"/>
                <a:sym typeface="Helios Bold"/>
              </a:rPr>
              <a:t>Result:</a:t>
            </a:r>
          </a:p>
          <a:p>
            <a:pPr algn="l" marL="647702" indent="-323851" lvl="1">
              <a:lnSpc>
                <a:spcPts val="4500"/>
              </a:lnSpc>
              <a:spcBef>
                <a:spcPct val="0"/>
              </a:spcBef>
              <a:buFont typeface="Arial"/>
              <a:buChar char="•"/>
            </a:pPr>
            <a:r>
              <a:rPr lang="en-US" sz="3000">
                <a:solidFill>
                  <a:srgbClr val="000000"/>
                </a:solidFill>
                <a:latin typeface="Helios"/>
                <a:ea typeface="Helios"/>
                <a:cs typeface="Helios"/>
                <a:sym typeface="Helios"/>
              </a:rPr>
              <a:t>L</a:t>
            </a:r>
            <a:r>
              <a:rPr lang="en-US" sz="3000">
                <a:solidFill>
                  <a:srgbClr val="000000"/>
                </a:solidFill>
                <a:latin typeface="Helios"/>
                <a:ea typeface="Helios"/>
                <a:cs typeface="Helios"/>
                <a:sym typeface="Helios"/>
              </a:rPr>
              <a:t>arge improvement on </a:t>
            </a:r>
            <a:r>
              <a:rPr lang="en-US" b="true" sz="3000">
                <a:solidFill>
                  <a:srgbClr val="000000"/>
                </a:solidFill>
                <a:latin typeface="Helios Bold"/>
                <a:ea typeface="Helios Bold"/>
                <a:cs typeface="Helios Bold"/>
                <a:sym typeface="Helios Bold"/>
              </a:rPr>
              <a:t>CT</a:t>
            </a:r>
            <a:r>
              <a:rPr lang="en-US" sz="3000">
                <a:solidFill>
                  <a:srgbClr val="000000"/>
                </a:solidFill>
                <a:latin typeface="Helios"/>
                <a:ea typeface="Helios"/>
                <a:cs typeface="Helios"/>
                <a:sym typeface="Helios"/>
              </a:rPr>
              <a:t> and </a:t>
            </a:r>
            <a:r>
              <a:rPr lang="en-US" b="true" sz="3000">
                <a:solidFill>
                  <a:srgbClr val="000000"/>
                </a:solidFill>
                <a:latin typeface="Helios Bold"/>
                <a:ea typeface="Helios Bold"/>
                <a:cs typeface="Helios Bold"/>
                <a:sym typeface="Helios Bold"/>
              </a:rPr>
              <a:t>X-ray</a:t>
            </a:r>
            <a:r>
              <a:rPr lang="en-US" sz="3000">
                <a:solidFill>
                  <a:srgbClr val="000000"/>
                </a:solidFill>
                <a:latin typeface="Helios"/>
                <a:ea typeface="Helios"/>
                <a:cs typeface="Helios"/>
                <a:sym typeface="Helios"/>
              </a:rPr>
              <a:t>, even though the model was trained only on </a:t>
            </a:r>
            <a:r>
              <a:rPr lang="en-US" b="true" sz="3000">
                <a:solidFill>
                  <a:srgbClr val="000000"/>
                </a:solidFill>
                <a:latin typeface="Helios Bold"/>
                <a:ea typeface="Helios Bold"/>
                <a:cs typeface="Helios Bold"/>
                <a:sym typeface="Helios Bold"/>
              </a:rPr>
              <a:t>MRI</a:t>
            </a:r>
          </a:p>
        </p:txBody>
      </p:sp>
      <p:sp>
        <p:nvSpPr>
          <p:cNvPr name="Freeform 6" id="6"/>
          <p:cNvSpPr/>
          <p:nvPr/>
        </p:nvSpPr>
        <p:spPr>
          <a:xfrm flipH="false" flipV="false" rot="0">
            <a:off x="11584363" y="3298494"/>
            <a:ext cx="5837900" cy="2977329"/>
          </a:xfrm>
          <a:custGeom>
            <a:avLst/>
            <a:gdLst/>
            <a:ahLst/>
            <a:cxnLst/>
            <a:rect r="r" b="b" t="t" l="l"/>
            <a:pathLst>
              <a:path h="2977329" w="5837900">
                <a:moveTo>
                  <a:pt x="0" y="0"/>
                </a:moveTo>
                <a:lnTo>
                  <a:pt x="5837900" y="0"/>
                </a:lnTo>
                <a:lnTo>
                  <a:pt x="5837900" y="2977329"/>
                </a:lnTo>
                <a:lnTo>
                  <a:pt x="0" y="2977329"/>
                </a:lnTo>
                <a:lnTo>
                  <a:pt x="0" y="0"/>
                </a:lnTo>
                <a:close/>
              </a:path>
            </a:pathLst>
          </a:custGeom>
          <a:blipFill>
            <a:blip r:embed="rId2"/>
            <a:stretch>
              <a:fillRect l="0" t="0" r="0" b="0"/>
            </a:stretch>
          </a:blipFill>
        </p:spPr>
      </p:sp>
      <p:sp>
        <p:nvSpPr>
          <p:cNvPr name="TextBox 7" id="7"/>
          <p:cNvSpPr txBox="true"/>
          <p:nvPr/>
        </p:nvSpPr>
        <p:spPr>
          <a:xfrm rot="0">
            <a:off x="1028700" y="933450"/>
            <a:ext cx="13807782" cy="703262"/>
          </a:xfrm>
          <a:prstGeom prst="rect">
            <a:avLst/>
          </a:prstGeom>
        </p:spPr>
        <p:txBody>
          <a:bodyPr anchor="t" rtlCol="false" tIns="0" lIns="0" bIns="0" rIns="0">
            <a:spAutoFit/>
          </a:bodyPr>
          <a:lstStyle/>
          <a:p>
            <a:pPr algn="l">
              <a:lnSpc>
                <a:spcPts val="5600"/>
              </a:lnSpc>
              <a:spcBef>
                <a:spcPct val="0"/>
              </a:spcBef>
            </a:pPr>
            <a:r>
              <a:rPr lang="en-US" b="true" sz="4000">
                <a:solidFill>
                  <a:srgbClr val="718BAB"/>
                </a:solidFill>
                <a:latin typeface="Helios Bold"/>
                <a:ea typeface="Helios Bold"/>
                <a:cs typeface="Helios Bold"/>
                <a:sym typeface="Helios Bold"/>
              </a:rPr>
              <a:t>5.STAGE 2: </a:t>
            </a:r>
            <a:r>
              <a:rPr lang="en-US" b="true" sz="4000">
                <a:solidFill>
                  <a:srgbClr val="000000"/>
                </a:solidFill>
                <a:latin typeface="Helios Bold"/>
                <a:ea typeface="Helios Bold"/>
                <a:cs typeface="Helios Bold"/>
                <a:sym typeface="Helios Bold"/>
              </a:rPr>
              <a:t>Direct Preference Optimization (DPO)</a:t>
            </a:r>
          </a:p>
        </p:txBody>
      </p:sp>
      <p:sp>
        <p:nvSpPr>
          <p:cNvPr name="TextBox 8" id="8"/>
          <p:cNvSpPr txBox="true"/>
          <p:nvPr/>
        </p:nvSpPr>
        <p:spPr>
          <a:xfrm rot="0">
            <a:off x="1028700" y="7437987"/>
            <a:ext cx="13558242" cy="1657350"/>
          </a:xfrm>
          <a:prstGeom prst="rect">
            <a:avLst/>
          </a:prstGeom>
        </p:spPr>
        <p:txBody>
          <a:bodyPr anchor="t" rtlCol="false" tIns="0" lIns="0" bIns="0" rIns="0">
            <a:spAutoFit/>
          </a:bodyPr>
          <a:lstStyle/>
          <a:p>
            <a:pPr algn="l">
              <a:lnSpc>
                <a:spcPts val="4499"/>
              </a:lnSpc>
            </a:pPr>
            <a:r>
              <a:rPr lang="en-US" sz="2999" b="true">
                <a:solidFill>
                  <a:srgbClr val="000000"/>
                </a:solidFill>
                <a:latin typeface="Helios Bold"/>
                <a:ea typeface="Helios Bold"/>
                <a:cs typeface="Helios Bold"/>
                <a:sym typeface="Helios Bold"/>
              </a:rPr>
              <a:t>Prefe</a:t>
            </a:r>
            <a:r>
              <a:rPr lang="en-US" b="true" sz="2999">
                <a:solidFill>
                  <a:srgbClr val="000000"/>
                </a:solidFill>
                <a:latin typeface="Helios Bold"/>
                <a:ea typeface="Helios Bold"/>
                <a:cs typeface="Helios Bold"/>
                <a:sym typeface="Helios Bold"/>
              </a:rPr>
              <a:t>rence Data:</a:t>
            </a:r>
          </a:p>
          <a:p>
            <a:pPr algn="l" marL="647698" indent="-323849" lvl="1">
              <a:lnSpc>
                <a:spcPts val="4499"/>
              </a:lnSpc>
              <a:buFont typeface="Arial"/>
              <a:buChar char="•"/>
            </a:pPr>
            <a:r>
              <a:rPr lang="en-US" b="true" sz="2999">
                <a:solidFill>
                  <a:srgbClr val="000000"/>
                </a:solidFill>
                <a:latin typeface="Helios Bold"/>
                <a:ea typeface="Helios Bold"/>
                <a:cs typeface="Helios Bold"/>
                <a:sym typeface="Helios Bold"/>
              </a:rPr>
              <a:t>Chosen:</a:t>
            </a:r>
            <a:r>
              <a:rPr lang="en-US" sz="2999">
                <a:solidFill>
                  <a:srgbClr val="000000"/>
                </a:solidFill>
                <a:latin typeface="Helios"/>
                <a:ea typeface="Helios"/>
                <a:cs typeface="Helios"/>
                <a:sym typeface="Helios"/>
              </a:rPr>
              <a:t> Preferred responses contained </a:t>
            </a:r>
            <a:r>
              <a:rPr lang="en-US" b="true" sz="2999">
                <a:solidFill>
                  <a:srgbClr val="000000"/>
                </a:solidFill>
                <a:latin typeface="Helios Bold"/>
                <a:ea typeface="Helios Bold"/>
                <a:cs typeface="Helios Bold"/>
                <a:sym typeface="Helios Bold"/>
              </a:rPr>
              <a:t>detailed, step-by-step reasoning</a:t>
            </a:r>
          </a:p>
          <a:p>
            <a:pPr algn="l" marL="647698" indent="-323849" lvl="1">
              <a:lnSpc>
                <a:spcPts val="4499"/>
              </a:lnSpc>
              <a:buFont typeface="Arial"/>
              <a:buChar char="•"/>
            </a:pPr>
            <a:r>
              <a:rPr lang="en-US" b="true" sz="2999">
                <a:solidFill>
                  <a:srgbClr val="000000"/>
                </a:solidFill>
                <a:latin typeface="Helios Bold"/>
                <a:ea typeface="Helios Bold"/>
                <a:cs typeface="Helios Bold"/>
                <a:sym typeface="Helios Bold"/>
              </a:rPr>
              <a:t>Rejected:</a:t>
            </a:r>
            <a:r>
              <a:rPr lang="en-US" sz="2999">
                <a:solidFill>
                  <a:srgbClr val="000000"/>
                </a:solidFill>
                <a:latin typeface="Helios"/>
                <a:ea typeface="Helios"/>
                <a:cs typeface="Helios"/>
                <a:sym typeface="Helios"/>
              </a:rPr>
              <a:t> Non-preferred responses were </a:t>
            </a:r>
            <a:r>
              <a:rPr lang="en-US" b="true" sz="2999">
                <a:solidFill>
                  <a:srgbClr val="000000"/>
                </a:solidFill>
                <a:latin typeface="Helios Bold"/>
                <a:ea typeface="Helios Bold"/>
                <a:cs typeface="Helios Bold"/>
                <a:sym typeface="Helios Bold"/>
              </a:rPr>
              <a:t>short, generic answers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19174"/>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1028700" y="3299964"/>
            <a:ext cx="14283886" cy="2523023"/>
          </a:xfrm>
          <a:custGeom>
            <a:avLst/>
            <a:gdLst/>
            <a:ahLst/>
            <a:cxnLst/>
            <a:rect r="r" b="b" t="t" l="l"/>
            <a:pathLst>
              <a:path h="2523023" w="14283886">
                <a:moveTo>
                  <a:pt x="0" y="0"/>
                </a:moveTo>
                <a:lnTo>
                  <a:pt x="14283886" y="0"/>
                </a:lnTo>
                <a:lnTo>
                  <a:pt x="14283886" y="2523023"/>
                </a:lnTo>
                <a:lnTo>
                  <a:pt x="0" y="2523023"/>
                </a:lnTo>
                <a:lnTo>
                  <a:pt x="0" y="0"/>
                </a:lnTo>
                <a:close/>
              </a:path>
            </a:pathLst>
          </a:custGeom>
          <a:blipFill>
            <a:blip r:embed="rId2"/>
            <a:stretch>
              <a:fillRect l="0" t="0" r="0" b="0"/>
            </a:stretch>
          </a:blipFill>
        </p:spPr>
      </p:sp>
      <p:sp>
        <p:nvSpPr>
          <p:cNvPr name="TextBox 6" id="6"/>
          <p:cNvSpPr txBox="true"/>
          <p:nvPr/>
        </p:nvSpPr>
        <p:spPr>
          <a:xfrm rot="0">
            <a:off x="1028700" y="1058672"/>
            <a:ext cx="14283886" cy="1695450"/>
          </a:xfrm>
          <a:prstGeom prst="rect">
            <a:avLst/>
          </a:prstGeom>
        </p:spPr>
        <p:txBody>
          <a:bodyPr anchor="t" rtlCol="false" tIns="0" lIns="0" bIns="0" rIns="0">
            <a:spAutoFit/>
          </a:bodyPr>
          <a:lstStyle/>
          <a:p>
            <a:pPr algn="l">
              <a:lnSpc>
                <a:spcPts val="4500"/>
              </a:lnSpc>
            </a:pPr>
          </a:p>
          <a:p>
            <a:pPr algn="l" marL="647702" indent="-323851" lvl="1">
              <a:lnSpc>
                <a:spcPts val="4500"/>
              </a:lnSpc>
              <a:buFont typeface="Arial"/>
              <a:buChar char="•"/>
            </a:pPr>
            <a:r>
              <a:rPr lang="en-US" sz="3000">
                <a:solidFill>
                  <a:srgbClr val="000000"/>
                </a:solidFill>
                <a:latin typeface="Helios"/>
                <a:ea typeface="Helios"/>
                <a:cs typeface="Helios"/>
                <a:sym typeface="Helios"/>
              </a:rPr>
              <a:t>Used these preference pairs to guide the refinement stage</a:t>
            </a:r>
          </a:p>
          <a:p>
            <a:pPr algn="l">
              <a:lnSpc>
                <a:spcPts val="4500"/>
              </a:lnSpc>
            </a:pPr>
            <a:r>
              <a:rPr lang="en-US" b="true" sz="3000">
                <a:solidFill>
                  <a:srgbClr val="000000"/>
                </a:solidFill>
                <a:latin typeface="Helios Bold"/>
                <a:ea typeface="Helios Bold"/>
                <a:cs typeface="Helios Bold"/>
                <a:sym typeface="Helios Bold"/>
              </a:rPr>
              <a:t>Converted into the below JSONL format for training:</a:t>
            </a:r>
          </a:p>
        </p:txBody>
      </p:sp>
      <p:sp>
        <p:nvSpPr>
          <p:cNvPr name="TextBox 7" id="7"/>
          <p:cNvSpPr txBox="true"/>
          <p:nvPr/>
        </p:nvSpPr>
        <p:spPr>
          <a:xfrm rot="0">
            <a:off x="1099840" y="6270662"/>
            <a:ext cx="5206678" cy="703262"/>
          </a:xfrm>
          <a:prstGeom prst="rect">
            <a:avLst/>
          </a:prstGeom>
        </p:spPr>
        <p:txBody>
          <a:bodyPr anchor="t" rtlCol="false" tIns="0" lIns="0" bIns="0" rIns="0">
            <a:spAutoFit/>
          </a:bodyPr>
          <a:lstStyle/>
          <a:p>
            <a:pPr algn="l">
              <a:lnSpc>
                <a:spcPts val="5600"/>
              </a:lnSpc>
              <a:spcBef>
                <a:spcPct val="0"/>
              </a:spcBef>
            </a:pPr>
            <a:r>
              <a:rPr lang="en-US" b="true" sz="4000">
                <a:solidFill>
                  <a:srgbClr val="718BAB"/>
                </a:solidFill>
                <a:latin typeface="Helios Bold"/>
                <a:ea typeface="Helios Bold"/>
                <a:cs typeface="Helios Bold"/>
                <a:sym typeface="Helios Bold"/>
              </a:rPr>
              <a:t>6.</a:t>
            </a:r>
            <a:r>
              <a:rPr lang="en-US" b="true" sz="4000">
                <a:solidFill>
                  <a:srgbClr val="718BAB"/>
                </a:solidFill>
                <a:latin typeface="Helios Bold"/>
                <a:ea typeface="Helios Bold"/>
                <a:cs typeface="Helios Bold"/>
                <a:sym typeface="Helios Bold"/>
              </a:rPr>
              <a:t>Evaluation Protocol</a:t>
            </a:r>
          </a:p>
        </p:txBody>
      </p:sp>
      <p:sp>
        <p:nvSpPr>
          <p:cNvPr name="TextBox 8" id="8"/>
          <p:cNvSpPr txBox="true"/>
          <p:nvPr/>
        </p:nvSpPr>
        <p:spPr>
          <a:xfrm rot="0">
            <a:off x="1099840" y="7421599"/>
            <a:ext cx="16352974" cy="1123950"/>
          </a:xfrm>
          <a:prstGeom prst="rect">
            <a:avLst/>
          </a:prstGeom>
        </p:spPr>
        <p:txBody>
          <a:bodyPr anchor="t" rtlCol="false" tIns="0" lIns="0" bIns="0" rIns="0">
            <a:spAutoFit/>
          </a:bodyPr>
          <a:lstStyle/>
          <a:p>
            <a:pPr algn="l" marL="647702" indent="-323851" lvl="1">
              <a:lnSpc>
                <a:spcPts val="4500"/>
              </a:lnSpc>
              <a:buFont typeface="Arial"/>
              <a:buChar char="•"/>
            </a:pPr>
            <a:r>
              <a:rPr lang="en-US" sz="3000">
                <a:solidFill>
                  <a:srgbClr val="000000"/>
                </a:solidFill>
                <a:latin typeface="Helios"/>
                <a:ea typeface="Helios"/>
                <a:cs typeface="Helios"/>
                <a:sym typeface="Helios"/>
              </a:rPr>
              <a:t>Compar</a:t>
            </a:r>
            <a:r>
              <a:rPr lang="en-US" sz="3000">
                <a:solidFill>
                  <a:srgbClr val="000000"/>
                </a:solidFill>
                <a:latin typeface="Helios"/>
                <a:ea typeface="Helios"/>
                <a:cs typeface="Helios"/>
                <a:sym typeface="Helios"/>
              </a:rPr>
              <a:t>e </a:t>
            </a:r>
            <a:r>
              <a:rPr lang="en-US" b="true" sz="3000">
                <a:solidFill>
                  <a:srgbClr val="000000"/>
                </a:solidFill>
                <a:latin typeface="Helios Bold"/>
                <a:ea typeface="Helios Bold"/>
                <a:cs typeface="Helios Bold"/>
                <a:sym typeface="Helios Bold"/>
              </a:rPr>
              <a:t>Base vs SFT vs DPO</a:t>
            </a:r>
            <a:r>
              <a:rPr lang="en-US" sz="3000">
                <a:solidFill>
                  <a:srgbClr val="000000"/>
                </a:solidFill>
                <a:latin typeface="Helios"/>
                <a:ea typeface="Helios"/>
                <a:cs typeface="Helios"/>
                <a:sym typeface="Helios"/>
              </a:rPr>
              <a:t> based on </a:t>
            </a:r>
            <a:r>
              <a:rPr lang="en-US" b="true" sz="3000">
                <a:solidFill>
                  <a:srgbClr val="000000"/>
                </a:solidFill>
                <a:latin typeface="Helios Bold"/>
                <a:ea typeface="Helios Bold"/>
                <a:cs typeface="Helios Bold"/>
                <a:sym typeface="Helios Bold"/>
              </a:rPr>
              <a:t>accuracy</a:t>
            </a:r>
            <a:r>
              <a:rPr lang="en-US" sz="3000">
                <a:solidFill>
                  <a:srgbClr val="000000"/>
                </a:solidFill>
                <a:latin typeface="Helios"/>
                <a:ea typeface="Helios"/>
                <a:cs typeface="Helios"/>
                <a:sym typeface="Helios"/>
              </a:rPr>
              <a:t> on MRI, CT &amp; X-ray</a:t>
            </a:r>
          </a:p>
          <a:p>
            <a:pPr algn="l" marL="647702" indent="-323851" lvl="1">
              <a:lnSpc>
                <a:spcPts val="4500"/>
              </a:lnSpc>
              <a:spcBef>
                <a:spcPct val="0"/>
              </a:spcBef>
              <a:buFont typeface="Arial"/>
              <a:buChar char="•"/>
            </a:pPr>
            <a:r>
              <a:rPr lang="en-US" sz="3000">
                <a:solidFill>
                  <a:srgbClr val="000000"/>
                </a:solidFill>
                <a:latin typeface="Helios"/>
                <a:ea typeface="Helios"/>
                <a:cs typeface="Helios"/>
                <a:sym typeface="Helios"/>
              </a:rPr>
              <a:t>Compare </a:t>
            </a:r>
            <a:r>
              <a:rPr lang="en-US" b="true" sz="3000">
                <a:solidFill>
                  <a:srgbClr val="000000"/>
                </a:solidFill>
                <a:latin typeface="Helios Bold"/>
                <a:ea typeface="Helios Bold"/>
                <a:cs typeface="Helios Bold"/>
                <a:sym typeface="Helios Bold"/>
              </a:rPr>
              <a:t>our lightweight pipeline</a:t>
            </a:r>
            <a:r>
              <a:rPr lang="en-US" sz="3000">
                <a:solidFill>
                  <a:srgbClr val="000000"/>
                </a:solidFill>
                <a:latin typeface="Helios"/>
                <a:ea typeface="Helios"/>
                <a:cs typeface="Helios"/>
                <a:sym typeface="Helios"/>
              </a:rPr>
              <a:t> with </a:t>
            </a:r>
            <a:r>
              <a:rPr lang="en-US" b="true" sz="3000">
                <a:solidFill>
                  <a:srgbClr val="000000"/>
                </a:solidFill>
                <a:latin typeface="Helios Bold"/>
                <a:ea typeface="Helios Bold"/>
                <a:cs typeface="Helios Bold"/>
                <a:sym typeface="Helios Bold"/>
              </a:rPr>
              <a:t>GRPO</a:t>
            </a:r>
            <a:r>
              <a:rPr lang="en-US" sz="3000">
                <a:solidFill>
                  <a:srgbClr val="000000"/>
                </a:solidFill>
                <a:latin typeface="Helios"/>
                <a:ea typeface="Helios"/>
                <a:cs typeface="Helios"/>
                <a:sym typeface="Helios"/>
              </a:rPr>
              <a:t>-based </a:t>
            </a:r>
            <a:r>
              <a:rPr lang="en-US" b="true" sz="3000">
                <a:solidFill>
                  <a:srgbClr val="000000"/>
                </a:solidFill>
                <a:latin typeface="Helios Bold"/>
                <a:ea typeface="Helios Bold"/>
                <a:cs typeface="Helios Bold"/>
                <a:sym typeface="Helios Bold"/>
              </a:rPr>
              <a:t>SOTA </a:t>
            </a:r>
            <a:r>
              <a:rPr lang="en-US" sz="3000">
                <a:solidFill>
                  <a:srgbClr val="000000"/>
                </a:solidFill>
                <a:latin typeface="Helios"/>
                <a:ea typeface="Helios"/>
                <a:cs typeface="Helios"/>
                <a:sym typeface="Helios"/>
              </a:rPr>
              <a:t>models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19174"/>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graphicFrame>
        <p:nvGraphicFramePr>
          <p:cNvPr name="Table 5" id="5"/>
          <p:cNvGraphicFramePr>
            <a:graphicFrameLocks noGrp="true"/>
          </p:cNvGraphicFramePr>
          <p:nvPr/>
        </p:nvGraphicFramePr>
        <p:xfrm>
          <a:off x="10629925" y="1839872"/>
          <a:ext cx="6846681" cy="3771900"/>
        </p:xfrm>
        <a:graphic>
          <a:graphicData uri="http://schemas.openxmlformats.org/drawingml/2006/table">
            <a:tbl>
              <a:tblPr/>
              <a:tblGrid>
                <a:gridCol w="1711670"/>
                <a:gridCol w="1711670"/>
                <a:gridCol w="1711670"/>
                <a:gridCol w="1711670"/>
              </a:tblGrid>
              <a:tr h="942975">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MRI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X-ray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42975">
                <a:tc>
                  <a:txBody>
                    <a:bodyPr anchor="t" rtlCol="false"/>
                    <a:lstStyle/>
                    <a:p>
                      <a:pPr algn="ctr">
                        <a:lnSpc>
                          <a:spcPts val="3919"/>
                        </a:lnSpc>
                        <a:defRPr/>
                      </a:pPr>
                      <a:r>
                        <a:rPr lang="en-US" sz="2799">
                          <a:solidFill>
                            <a:srgbClr val="000000"/>
                          </a:solidFill>
                          <a:latin typeface="Helios"/>
                          <a:ea typeface="Helios"/>
                          <a:cs typeface="Helios"/>
                          <a:sym typeface="Helios"/>
                        </a:rPr>
                        <a:t>Base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elios"/>
                          <a:ea typeface="Helios"/>
                          <a:cs typeface="Helios"/>
                          <a:sym typeface="Helios"/>
                        </a:rPr>
                        <a:t>32.0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elios"/>
                          <a:ea typeface="Helios"/>
                          <a:cs typeface="Helios"/>
                          <a:sym typeface="Helios"/>
                        </a:rPr>
                        <a:t>34.7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elios"/>
                          <a:ea typeface="Helios"/>
                          <a:cs typeface="Helios"/>
                          <a:sym typeface="Helios"/>
                        </a:rPr>
                        <a:t>37.3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42975">
                <a:tc>
                  <a:txBody>
                    <a:bodyPr anchor="t" rtlCol="false"/>
                    <a:lstStyle/>
                    <a:p>
                      <a:pPr algn="ctr">
                        <a:lnSpc>
                          <a:spcPts val="3919"/>
                        </a:lnSpc>
                        <a:defRPr/>
                      </a:pPr>
                      <a:r>
                        <a:rPr lang="en-US" sz="2799">
                          <a:solidFill>
                            <a:srgbClr val="000000"/>
                          </a:solidFill>
                          <a:latin typeface="Helios"/>
                          <a:ea typeface="Helios"/>
                          <a:cs typeface="Helios"/>
                          <a:sym typeface="Helios"/>
                        </a:rPr>
                        <a:t>SFT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elios"/>
                          <a:ea typeface="Helios"/>
                          <a:cs typeface="Helios"/>
                          <a:sym typeface="Helios"/>
                        </a:rPr>
                        <a:t>98.0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elios"/>
                          <a:ea typeface="Helios"/>
                          <a:cs typeface="Helios"/>
                          <a:sym typeface="Helios"/>
                        </a:rPr>
                        <a:t>74.0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elios"/>
                          <a:ea typeface="Helios"/>
                          <a:cs typeface="Helios"/>
                          <a:sym typeface="Helios"/>
                        </a:rPr>
                        <a:t>84.0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42975">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DPO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99.3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91.3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91.3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aphicFrame>
        <p:nvGraphicFramePr>
          <p:cNvPr name="Table 6" id="6"/>
          <p:cNvGraphicFramePr>
            <a:graphicFrameLocks noGrp="true"/>
          </p:cNvGraphicFramePr>
          <p:nvPr/>
        </p:nvGraphicFramePr>
        <p:xfrm>
          <a:off x="9495371" y="5916572"/>
          <a:ext cx="7981234" cy="3505200"/>
        </p:xfrm>
        <a:graphic>
          <a:graphicData uri="http://schemas.openxmlformats.org/drawingml/2006/table">
            <a:tbl>
              <a:tblPr/>
              <a:tblGrid>
                <a:gridCol w="2289920"/>
                <a:gridCol w="1895144"/>
                <a:gridCol w="1890792"/>
                <a:gridCol w="1905378"/>
              </a:tblGrid>
              <a:tr h="1030375">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MRI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X-ray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0375">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SOTA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elios"/>
                          <a:ea typeface="Helios"/>
                          <a:cs typeface="Helios"/>
                          <a:sym typeface="Helios"/>
                        </a:rPr>
                        <a:t>94.7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elios"/>
                          <a:ea typeface="Helios"/>
                          <a:cs typeface="Helios"/>
                          <a:sym typeface="Helios"/>
                        </a:rPr>
                        <a:t>76.7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elios"/>
                          <a:ea typeface="Helios"/>
                          <a:cs typeface="Helios"/>
                          <a:sym typeface="Helios"/>
                        </a:rPr>
                        <a:t>77.3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44451">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Our Approach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94.3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76.4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Helios Bold"/>
                          <a:ea typeface="Helios Bold"/>
                          <a:cs typeface="Helios Bold"/>
                          <a:sym typeface="Helios Bold"/>
                        </a:rPr>
                        <a:t>76.0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100973" y="656108"/>
            <a:ext cx="10735760" cy="822324"/>
          </a:xfrm>
          <a:prstGeom prst="rect">
            <a:avLst/>
          </a:prstGeom>
        </p:spPr>
        <p:txBody>
          <a:bodyPr anchor="t" rtlCol="false" tIns="0" lIns="0" bIns="0" rIns="0">
            <a:spAutoFit/>
          </a:bodyPr>
          <a:lstStyle/>
          <a:p>
            <a:pPr algn="l">
              <a:lnSpc>
                <a:spcPts val="6500"/>
              </a:lnSpc>
            </a:pPr>
            <a:r>
              <a:rPr lang="en-US" b="true" sz="5000">
                <a:solidFill>
                  <a:srgbClr val="2A2E3A"/>
                </a:solidFill>
                <a:latin typeface="Klein Bold"/>
                <a:ea typeface="Klein Bold"/>
                <a:cs typeface="Klein Bold"/>
                <a:sym typeface="Klein Bold"/>
              </a:rPr>
              <a:t>RESULTS &amp; DISCUSSION</a:t>
            </a:r>
          </a:p>
        </p:txBody>
      </p:sp>
      <p:sp>
        <p:nvSpPr>
          <p:cNvPr name="TextBox 8" id="8"/>
          <p:cNvSpPr txBox="true"/>
          <p:nvPr/>
        </p:nvSpPr>
        <p:spPr>
          <a:xfrm rot="0">
            <a:off x="1100973" y="1686404"/>
            <a:ext cx="9101173" cy="1412874"/>
          </a:xfrm>
          <a:prstGeom prst="rect">
            <a:avLst/>
          </a:prstGeom>
        </p:spPr>
        <p:txBody>
          <a:bodyPr anchor="t" rtlCol="false" tIns="0" lIns="0" bIns="0" rIns="0">
            <a:spAutoFit/>
          </a:bodyPr>
          <a:lstStyle/>
          <a:p>
            <a:pPr algn="l">
              <a:lnSpc>
                <a:spcPts val="5600"/>
              </a:lnSpc>
            </a:pPr>
            <a:r>
              <a:rPr lang="en-US" sz="4000" b="true">
                <a:solidFill>
                  <a:srgbClr val="718BAB"/>
                </a:solidFill>
                <a:latin typeface="Helios Bold"/>
                <a:ea typeface="Helios Bold"/>
                <a:cs typeface="Helios Bold"/>
                <a:sym typeface="Helios Bold"/>
              </a:rPr>
              <a:t>1.Progressive Improvement </a:t>
            </a:r>
          </a:p>
          <a:p>
            <a:pPr algn="l">
              <a:lnSpc>
                <a:spcPts val="5600"/>
              </a:lnSpc>
              <a:spcBef>
                <a:spcPct val="0"/>
              </a:spcBef>
            </a:pPr>
            <a:r>
              <a:rPr lang="en-US" b="true" sz="4000">
                <a:solidFill>
                  <a:srgbClr val="718BAB"/>
                </a:solidFill>
                <a:latin typeface="Helios Bold"/>
                <a:ea typeface="Helios Bold"/>
                <a:cs typeface="Helios Bold"/>
                <a:sym typeface="Helios Bold"/>
              </a:rPr>
              <a:t>(Base vs SFT vs DPO)</a:t>
            </a:r>
          </a:p>
        </p:txBody>
      </p:sp>
      <p:sp>
        <p:nvSpPr>
          <p:cNvPr name="TextBox 9" id="9"/>
          <p:cNvSpPr txBox="true"/>
          <p:nvPr/>
        </p:nvSpPr>
        <p:spPr>
          <a:xfrm rot="0">
            <a:off x="1100973" y="3262743"/>
            <a:ext cx="8834192" cy="2657475"/>
          </a:xfrm>
          <a:prstGeom prst="rect">
            <a:avLst/>
          </a:prstGeom>
        </p:spPr>
        <p:txBody>
          <a:bodyPr anchor="t" rtlCol="false" tIns="0" lIns="0" bIns="0" rIns="0">
            <a:spAutoFit/>
          </a:bodyPr>
          <a:lstStyle/>
          <a:p>
            <a:pPr algn="l" marL="647702" indent="-323851" lvl="1">
              <a:lnSpc>
                <a:spcPts val="4200"/>
              </a:lnSpc>
              <a:buFont typeface="Arial"/>
              <a:buChar char="•"/>
            </a:pPr>
            <a:r>
              <a:rPr lang="en-US" sz="3000">
                <a:solidFill>
                  <a:srgbClr val="000000"/>
                </a:solidFill>
                <a:latin typeface="Helios"/>
                <a:ea typeface="Helios"/>
                <a:cs typeface="Helios"/>
                <a:sym typeface="Helios"/>
              </a:rPr>
              <a:t>Evaluated on </a:t>
            </a:r>
            <a:r>
              <a:rPr lang="en-US" b="true" sz="3000">
                <a:solidFill>
                  <a:srgbClr val="000000"/>
                </a:solidFill>
                <a:latin typeface="Helios Bold"/>
                <a:ea typeface="Helios Bold"/>
                <a:cs typeface="Helios Bold"/>
                <a:sym typeface="Helios Bold"/>
              </a:rPr>
              <a:t>150</a:t>
            </a:r>
            <a:r>
              <a:rPr lang="en-US" sz="3000">
                <a:solidFill>
                  <a:srgbClr val="000000"/>
                </a:solidFill>
                <a:latin typeface="Helios"/>
                <a:ea typeface="Helios"/>
                <a:cs typeface="Helios"/>
                <a:sym typeface="Helios"/>
              </a:rPr>
              <a:t> samples per modality</a:t>
            </a:r>
          </a:p>
          <a:p>
            <a:pPr algn="l" marL="647702" indent="-323851" lvl="1">
              <a:lnSpc>
                <a:spcPts val="4200"/>
              </a:lnSpc>
              <a:buFont typeface="Arial"/>
              <a:buChar char="•"/>
            </a:pPr>
            <a:r>
              <a:rPr lang="en-US" b="true" sz="3000">
                <a:solidFill>
                  <a:srgbClr val="000000"/>
                </a:solidFill>
                <a:latin typeface="Helios Bold"/>
                <a:ea typeface="Helios Bold"/>
                <a:cs typeface="Helios Bold"/>
                <a:sym typeface="Helios Bold"/>
              </a:rPr>
              <a:t>Base (zero-shot): </a:t>
            </a:r>
            <a:r>
              <a:rPr lang="en-US" sz="3000">
                <a:solidFill>
                  <a:srgbClr val="000000"/>
                </a:solidFill>
                <a:latin typeface="Helios"/>
                <a:ea typeface="Helios"/>
                <a:cs typeface="Helios"/>
                <a:sym typeface="Helios"/>
              </a:rPr>
              <a:t>near random performance</a:t>
            </a:r>
          </a:p>
          <a:p>
            <a:pPr algn="l" marL="647702" indent="-323851" lvl="1">
              <a:lnSpc>
                <a:spcPts val="4200"/>
              </a:lnSpc>
              <a:spcBef>
                <a:spcPct val="0"/>
              </a:spcBef>
              <a:buFont typeface="Arial"/>
              <a:buChar char="•"/>
            </a:pPr>
            <a:r>
              <a:rPr lang="en-US" b="true" sz="3000">
                <a:solidFill>
                  <a:srgbClr val="000000"/>
                </a:solidFill>
                <a:latin typeface="Helios Bold"/>
                <a:ea typeface="Helios Bold"/>
                <a:cs typeface="Helios Bold"/>
                <a:sym typeface="Helios Bold"/>
              </a:rPr>
              <a:t>SFT:</a:t>
            </a:r>
            <a:r>
              <a:rPr lang="en-US" sz="3000">
                <a:solidFill>
                  <a:srgbClr val="000000"/>
                </a:solidFill>
                <a:latin typeface="Helios"/>
                <a:ea typeface="Helios"/>
                <a:cs typeface="Helios"/>
                <a:sym typeface="Helios"/>
              </a:rPr>
              <a:t> </a:t>
            </a:r>
            <a:r>
              <a:rPr lang="en-US" sz="3000">
                <a:solidFill>
                  <a:srgbClr val="000000"/>
                </a:solidFill>
                <a:latin typeface="Helios"/>
                <a:ea typeface="Helios"/>
                <a:cs typeface="Helios"/>
                <a:sym typeface="Helios"/>
              </a:rPr>
              <a:t>strong</a:t>
            </a:r>
            <a:r>
              <a:rPr lang="en-US" sz="3000">
                <a:solidFill>
                  <a:srgbClr val="000000"/>
                </a:solidFill>
                <a:latin typeface="Helios"/>
                <a:ea typeface="Helios"/>
                <a:cs typeface="Helios"/>
                <a:sym typeface="Helios"/>
              </a:rPr>
              <a:t> on MRI, </a:t>
            </a:r>
            <a:r>
              <a:rPr lang="en-US" sz="3000">
                <a:solidFill>
                  <a:srgbClr val="000000"/>
                </a:solidFill>
                <a:latin typeface="Helios"/>
                <a:ea typeface="Helios"/>
                <a:cs typeface="Helios"/>
                <a:sym typeface="Helios"/>
              </a:rPr>
              <a:t>limited</a:t>
            </a:r>
            <a:r>
              <a:rPr lang="en-US" sz="3000">
                <a:solidFill>
                  <a:srgbClr val="000000"/>
                </a:solidFill>
                <a:latin typeface="Helios"/>
                <a:ea typeface="Helios"/>
                <a:cs typeface="Helios"/>
                <a:sym typeface="Helios"/>
              </a:rPr>
              <a:t> </a:t>
            </a:r>
            <a:r>
              <a:rPr lang="en-US" sz="3000">
                <a:solidFill>
                  <a:srgbClr val="000000"/>
                </a:solidFill>
                <a:latin typeface="Helios"/>
                <a:ea typeface="Helios"/>
                <a:cs typeface="Helios"/>
                <a:sym typeface="Helios"/>
              </a:rPr>
              <a:t>generalization</a:t>
            </a:r>
          </a:p>
          <a:p>
            <a:pPr algn="l" marL="647702" indent="-323851" lvl="1">
              <a:lnSpc>
                <a:spcPts val="4200"/>
              </a:lnSpc>
              <a:spcBef>
                <a:spcPct val="0"/>
              </a:spcBef>
              <a:buFont typeface="Arial"/>
              <a:buChar char="•"/>
            </a:pPr>
            <a:r>
              <a:rPr lang="en-US" b="true" sz="3000">
                <a:solidFill>
                  <a:srgbClr val="000000"/>
                </a:solidFill>
                <a:latin typeface="Helios Bold"/>
                <a:ea typeface="Helios Bold"/>
                <a:cs typeface="Helios Bold"/>
                <a:sym typeface="Helios Bold"/>
              </a:rPr>
              <a:t>DPO:</a:t>
            </a:r>
            <a:r>
              <a:rPr lang="en-US" sz="3000">
                <a:solidFill>
                  <a:srgbClr val="000000"/>
                </a:solidFill>
                <a:latin typeface="Helios"/>
                <a:ea typeface="Helios"/>
                <a:cs typeface="Helios"/>
                <a:sym typeface="Helios"/>
              </a:rPr>
              <a:t> further boosts CT &amp; X-ray → strong OOD reasoning</a:t>
            </a:r>
          </a:p>
        </p:txBody>
      </p:sp>
      <p:sp>
        <p:nvSpPr>
          <p:cNvPr name="TextBox 10" id="10"/>
          <p:cNvSpPr txBox="true"/>
          <p:nvPr/>
        </p:nvSpPr>
        <p:spPr>
          <a:xfrm rot="0">
            <a:off x="1028700" y="6161303"/>
            <a:ext cx="7634505" cy="703262"/>
          </a:xfrm>
          <a:prstGeom prst="rect">
            <a:avLst/>
          </a:prstGeom>
        </p:spPr>
        <p:txBody>
          <a:bodyPr anchor="t" rtlCol="false" tIns="0" lIns="0" bIns="0" rIns="0">
            <a:spAutoFit/>
          </a:bodyPr>
          <a:lstStyle/>
          <a:p>
            <a:pPr algn="l">
              <a:lnSpc>
                <a:spcPts val="5600"/>
              </a:lnSpc>
              <a:spcBef>
                <a:spcPct val="0"/>
              </a:spcBef>
            </a:pPr>
            <a:r>
              <a:rPr lang="en-US" b="true" sz="4000">
                <a:solidFill>
                  <a:srgbClr val="718BAB"/>
                </a:solidFill>
                <a:latin typeface="Helios Bold"/>
                <a:ea typeface="Helios Bold"/>
                <a:cs typeface="Helios Bold"/>
                <a:sym typeface="Helios Bold"/>
              </a:rPr>
              <a:t>2.Benchmark vs MedVLM-R1</a:t>
            </a:r>
          </a:p>
        </p:txBody>
      </p:sp>
      <p:sp>
        <p:nvSpPr>
          <p:cNvPr name="TextBox 11" id="11"/>
          <p:cNvSpPr txBox="true"/>
          <p:nvPr/>
        </p:nvSpPr>
        <p:spPr>
          <a:xfrm rot="0">
            <a:off x="1100973" y="7134225"/>
            <a:ext cx="7362899" cy="2124075"/>
          </a:xfrm>
          <a:prstGeom prst="rect">
            <a:avLst/>
          </a:prstGeom>
        </p:spPr>
        <p:txBody>
          <a:bodyPr anchor="t" rtlCol="false" tIns="0" lIns="0" bIns="0" rIns="0">
            <a:spAutoFit/>
          </a:bodyPr>
          <a:lstStyle/>
          <a:p>
            <a:pPr algn="l" marL="647702" indent="-323851" lvl="1">
              <a:lnSpc>
                <a:spcPts val="4200"/>
              </a:lnSpc>
              <a:buFont typeface="Arial"/>
              <a:buChar char="•"/>
            </a:pPr>
            <a:r>
              <a:rPr lang="en-US" sz="3000">
                <a:solidFill>
                  <a:srgbClr val="000000"/>
                </a:solidFill>
                <a:latin typeface="Helios"/>
                <a:ea typeface="Helios"/>
                <a:cs typeface="Helios"/>
                <a:sym typeface="Helios"/>
              </a:rPr>
              <a:t>Evaluated on </a:t>
            </a:r>
            <a:r>
              <a:rPr lang="en-US" b="true" sz="3000">
                <a:solidFill>
                  <a:srgbClr val="000000"/>
                </a:solidFill>
                <a:latin typeface="Helios Bold"/>
                <a:ea typeface="Helios Bold"/>
                <a:cs typeface="Helios Bold"/>
                <a:sym typeface="Helios Bold"/>
              </a:rPr>
              <a:t>30</a:t>
            </a:r>
            <a:r>
              <a:rPr lang="en-US" b="true" sz="3000">
                <a:solidFill>
                  <a:srgbClr val="000000"/>
                </a:solidFill>
                <a:latin typeface="Helios Bold"/>
                <a:ea typeface="Helios Bold"/>
                <a:cs typeface="Helios Bold"/>
                <a:sym typeface="Helios Bold"/>
              </a:rPr>
              <a:t>0</a:t>
            </a:r>
            <a:r>
              <a:rPr lang="en-US" sz="3000">
                <a:solidFill>
                  <a:srgbClr val="000000"/>
                </a:solidFill>
                <a:latin typeface="Helios"/>
                <a:ea typeface="Helios"/>
                <a:cs typeface="Helios"/>
                <a:sym typeface="Helios"/>
              </a:rPr>
              <a:t> samples per modality</a:t>
            </a:r>
          </a:p>
          <a:p>
            <a:pPr algn="l" marL="647702" indent="-323851" lvl="1">
              <a:lnSpc>
                <a:spcPts val="4200"/>
              </a:lnSpc>
              <a:buFont typeface="Arial"/>
              <a:buChar char="•"/>
            </a:pPr>
            <a:r>
              <a:rPr lang="en-US" b="true" sz="3000">
                <a:solidFill>
                  <a:srgbClr val="000000"/>
                </a:solidFill>
                <a:latin typeface="Helios Bold"/>
                <a:ea typeface="Helios Bold"/>
                <a:cs typeface="Helios Bold"/>
                <a:sym typeface="Helios Bold"/>
              </a:rPr>
              <a:t>Our pipeline</a:t>
            </a:r>
            <a:r>
              <a:rPr lang="en-US" sz="3000">
                <a:solidFill>
                  <a:srgbClr val="000000"/>
                </a:solidFill>
                <a:latin typeface="Helios"/>
                <a:ea typeface="Helios"/>
                <a:cs typeface="Helios"/>
                <a:sym typeface="Helios"/>
              </a:rPr>
              <a:t> ≈ </a:t>
            </a:r>
            <a:r>
              <a:rPr lang="en-US" b="true" sz="3000">
                <a:solidFill>
                  <a:srgbClr val="000000"/>
                </a:solidFill>
                <a:latin typeface="Helios Bold"/>
                <a:ea typeface="Helios Bold"/>
                <a:cs typeface="Helios Bold"/>
                <a:sym typeface="Helios Bold"/>
              </a:rPr>
              <a:t>SOTA</a:t>
            </a:r>
            <a:r>
              <a:rPr lang="en-US" sz="3000">
                <a:solidFill>
                  <a:srgbClr val="000000"/>
                </a:solidFill>
                <a:latin typeface="Helios"/>
                <a:ea typeface="Helios"/>
                <a:cs typeface="Helios"/>
                <a:sym typeface="Helios"/>
              </a:rPr>
              <a:t> accuracy</a:t>
            </a:r>
          </a:p>
          <a:p>
            <a:pPr algn="l" marL="647702" indent="-323851" lvl="1">
              <a:lnSpc>
                <a:spcPts val="4200"/>
              </a:lnSpc>
              <a:buFont typeface="Arial"/>
              <a:buChar char="•"/>
            </a:pPr>
            <a:r>
              <a:rPr lang="en-US" b="true" sz="3000">
                <a:solidFill>
                  <a:srgbClr val="000000"/>
                </a:solidFill>
                <a:latin typeface="Helios Bold"/>
                <a:ea typeface="Helios Bold"/>
                <a:cs typeface="Helios Bold"/>
                <a:sym typeface="Helios Bold"/>
              </a:rPr>
              <a:t>26×</a:t>
            </a:r>
            <a:r>
              <a:rPr lang="en-US" sz="3000">
                <a:solidFill>
                  <a:srgbClr val="000000"/>
                </a:solidFill>
                <a:latin typeface="Helios"/>
                <a:ea typeface="Helios"/>
                <a:cs typeface="Helios"/>
                <a:sym typeface="Helios"/>
              </a:rPr>
              <a:t> faster training (9 min vs 4 hrs)</a:t>
            </a:r>
          </a:p>
          <a:p>
            <a:pPr algn="l" marL="647702" indent="-323851" lvl="1">
              <a:lnSpc>
                <a:spcPts val="4200"/>
              </a:lnSpc>
              <a:buFont typeface="Arial"/>
              <a:buChar char="•"/>
            </a:pPr>
            <a:r>
              <a:rPr lang="en-US" sz="3000">
                <a:solidFill>
                  <a:srgbClr val="000000"/>
                </a:solidFill>
                <a:latin typeface="Helios"/>
                <a:ea typeface="Helios"/>
                <a:cs typeface="Helios"/>
                <a:sym typeface="Helios"/>
              </a:rPr>
              <a:t>Much more </a:t>
            </a:r>
            <a:r>
              <a:rPr lang="en-US" b="true" sz="3000">
                <a:solidFill>
                  <a:srgbClr val="000000"/>
                </a:solidFill>
                <a:latin typeface="Helios Bold"/>
                <a:ea typeface="Helios Bold"/>
                <a:cs typeface="Helios Bold"/>
                <a:sym typeface="Helios Bold"/>
              </a:rPr>
              <a:t>compute-efficient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19174"/>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513784" y="238224"/>
            <a:ext cx="9951118" cy="5970671"/>
          </a:xfrm>
          <a:custGeom>
            <a:avLst/>
            <a:gdLst/>
            <a:ahLst/>
            <a:cxnLst/>
            <a:rect r="r" b="b" t="t" l="l"/>
            <a:pathLst>
              <a:path h="5970671" w="9951118">
                <a:moveTo>
                  <a:pt x="0" y="0"/>
                </a:moveTo>
                <a:lnTo>
                  <a:pt x="9951118" y="0"/>
                </a:lnTo>
                <a:lnTo>
                  <a:pt x="9951118" y="5970670"/>
                </a:lnTo>
                <a:lnTo>
                  <a:pt x="0" y="5970670"/>
                </a:lnTo>
                <a:lnTo>
                  <a:pt x="0" y="0"/>
                </a:lnTo>
                <a:close/>
              </a:path>
            </a:pathLst>
          </a:custGeom>
          <a:blipFill>
            <a:blip r:embed="rId2">
              <a:alphaModFix amt="85000"/>
            </a:blip>
            <a:stretch>
              <a:fillRect l="0" t="0" r="0" b="0"/>
            </a:stretch>
          </a:blipFill>
        </p:spPr>
      </p:sp>
      <p:sp>
        <p:nvSpPr>
          <p:cNvPr name="Freeform 6" id="6"/>
          <p:cNvSpPr/>
          <p:nvPr/>
        </p:nvSpPr>
        <p:spPr>
          <a:xfrm flipH="false" flipV="false" rot="0">
            <a:off x="8554136" y="4355808"/>
            <a:ext cx="9506976" cy="5704186"/>
          </a:xfrm>
          <a:custGeom>
            <a:avLst/>
            <a:gdLst/>
            <a:ahLst/>
            <a:cxnLst/>
            <a:rect r="r" b="b" t="t" l="l"/>
            <a:pathLst>
              <a:path h="5704186" w="9506976">
                <a:moveTo>
                  <a:pt x="0" y="0"/>
                </a:moveTo>
                <a:lnTo>
                  <a:pt x="9506976" y="0"/>
                </a:lnTo>
                <a:lnTo>
                  <a:pt x="9506976" y="5704185"/>
                </a:lnTo>
                <a:lnTo>
                  <a:pt x="0" y="5704185"/>
                </a:lnTo>
                <a:lnTo>
                  <a:pt x="0" y="0"/>
                </a:lnTo>
                <a:close/>
              </a:path>
            </a:pathLst>
          </a:custGeom>
          <a:blipFill>
            <a:blip r:embed="rId3">
              <a:alphaModFix amt="85000"/>
            </a:blip>
            <a:stretch>
              <a:fillRect l="0" t="0" r="0" b="0"/>
            </a:stretch>
          </a:blipFill>
        </p:spPr>
      </p:sp>
      <p:graphicFrame>
        <p:nvGraphicFramePr>
          <p:cNvPr name="Table 7" id="7"/>
          <p:cNvGraphicFramePr>
            <a:graphicFrameLocks noGrp="true"/>
          </p:cNvGraphicFramePr>
          <p:nvPr/>
        </p:nvGraphicFramePr>
        <p:xfrm>
          <a:off x="11257239" y="621292"/>
          <a:ext cx="6002061" cy="3009900"/>
        </p:xfrm>
        <a:graphic>
          <a:graphicData uri="http://schemas.openxmlformats.org/drawingml/2006/table">
            <a:tbl>
              <a:tblPr/>
              <a:tblGrid>
                <a:gridCol w="1500515"/>
                <a:gridCol w="1500515"/>
                <a:gridCol w="1500515"/>
                <a:gridCol w="1500515"/>
              </a:tblGrid>
              <a:tr h="752475">
                <a:tc>
                  <a:txBody>
                    <a:bodyPr anchor="t" rtlCol="false"/>
                    <a:lstStyle/>
                    <a:p>
                      <a:pPr algn="ctr">
                        <a:lnSpc>
                          <a:spcPts val="2520"/>
                        </a:lnSpc>
                        <a:defRPr/>
                      </a:pPr>
                      <a:r>
                        <a:rPr lang="en-US" sz="1800" b="true">
                          <a:solidFill>
                            <a:srgbClr val="000000"/>
                          </a:solidFill>
                          <a:latin typeface="Helios Bold"/>
                          <a:ea typeface="Helios Bold"/>
                          <a:cs typeface="Helios Bold"/>
                          <a:sym typeface="Helios Bold"/>
                        </a:rPr>
                        <a:t>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Helios Bold"/>
                          <a:ea typeface="Helios Bold"/>
                          <a:cs typeface="Helios Bold"/>
                          <a:sym typeface="Helios Bold"/>
                        </a:rPr>
                        <a:t>MRI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Helios Bold"/>
                          <a:ea typeface="Helios Bold"/>
                          <a:cs typeface="Helios Bold"/>
                          <a:sym typeface="Helios Bold"/>
                        </a:rPr>
                        <a:t>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Helios Bold"/>
                          <a:ea typeface="Helios Bold"/>
                          <a:cs typeface="Helios Bold"/>
                          <a:sym typeface="Helios Bold"/>
                        </a:rPr>
                        <a:t>X-ray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52475">
                <a:tc>
                  <a:txBody>
                    <a:bodyPr anchor="t" rtlCol="false"/>
                    <a:lstStyle/>
                    <a:p>
                      <a:pPr algn="ctr">
                        <a:lnSpc>
                          <a:spcPts val="2520"/>
                        </a:lnSpc>
                        <a:defRPr/>
                      </a:pPr>
                      <a:r>
                        <a:rPr lang="en-US" sz="1800">
                          <a:solidFill>
                            <a:srgbClr val="000000"/>
                          </a:solidFill>
                          <a:latin typeface="Helios"/>
                          <a:ea typeface="Helios"/>
                          <a:cs typeface="Helios"/>
                          <a:sym typeface="Helios"/>
                        </a:rPr>
                        <a:t>Base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32.0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34.7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37.3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52475">
                <a:tc>
                  <a:txBody>
                    <a:bodyPr anchor="t" rtlCol="false"/>
                    <a:lstStyle/>
                    <a:p>
                      <a:pPr algn="ctr">
                        <a:lnSpc>
                          <a:spcPts val="2520"/>
                        </a:lnSpc>
                        <a:defRPr/>
                      </a:pPr>
                      <a:r>
                        <a:rPr lang="en-US" sz="1800">
                          <a:solidFill>
                            <a:srgbClr val="000000"/>
                          </a:solidFill>
                          <a:latin typeface="Helios"/>
                          <a:ea typeface="Helios"/>
                          <a:cs typeface="Helios"/>
                          <a:sym typeface="Helios"/>
                        </a:rPr>
                        <a:t>SFT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98.0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74.0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84.0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52475">
                <a:tc>
                  <a:txBody>
                    <a:bodyPr anchor="t" rtlCol="false"/>
                    <a:lstStyle/>
                    <a:p>
                      <a:pPr algn="ctr">
                        <a:lnSpc>
                          <a:spcPts val="2520"/>
                        </a:lnSpc>
                        <a:defRPr/>
                      </a:pPr>
                      <a:r>
                        <a:rPr lang="en-US" sz="1800">
                          <a:solidFill>
                            <a:srgbClr val="000000"/>
                          </a:solidFill>
                          <a:latin typeface="Helios"/>
                          <a:ea typeface="Helios"/>
                          <a:cs typeface="Helios"/>
                          <a:sym typeface="Helios"/>
                        </a:rPr>
                        <a:t>DPO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99.3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91.3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91.3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aphicFrame>
        <p:nvGraphicFramePr>
          <p:cNvPr name="Table 8" id="8"/>
          <p:cNvGraphicFramePr>
            <a:graphicFrameLocks noGrp="true"/>
          </p:cNvGraphicFramePr>
          <p:nvPr/>
        </p:nvGraphicFramePr>
        <p:xfrm>
          <a:off x="865737" y="6352808"/>
          <a:ext cx="7525436" cy="3133725"/>
        </p:xfrm>
        <a:graphic>
          <a:graphicData uri="http://schemas.openxmlformats.org/drawingml/2006/table">
            <a:tbl>
              <a:tblPr/>
              <a:tblGrid>
                <a:gridCol w="1832468"/>
                <a:gridCol w="1895695"/>
                <a:gridCol w="1891342"/>
                <a:gridCol w="1905932"/>
              </a:tblGrid>
              <a:tr h="1031719">
                <a:tc>
                  <a:txBody>
                    <a:bodyPr anchor="t" rtlCol="false"/>
                    <a:lstStyle/>
                    <a:p>
                      <a:pPr algn="ctr">
                        <a:lnSpc>
                          <a:spcPts val="2520"/>
                        </a:lnSpc>
                        <a:defRPr/>
                      </a:pPr>
                      <a:r>
                        <a:rPr lang="en-US" sz="1800" b="true">
                          <a:solidFill>
                            <a:srgbClr val="000000"/>
                          </a:solidFill>
                          <a:latin typeface="Helios Bold"/>
                          <a:ea typeface="Helios Bold"/>
                          <a:cs typeface="Helios Bold"/>
                          <a:sym typeface="Helios Bold"/>
                        </a:rPr>
                        <a:t>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Helios Bold"/>
                          <a:ea typeface="Helios Bold"/>
                          <a:cs typeface="Helios Bold"/>
                          <a:sym typeface="Helios Bold"/>
                        </a:rPr>
                        <a:t>MRI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Helios Bold"/>
                          <a:ea typeface="Helios Bold"/>
                          <a:cs typeface="Helios Bold"/>
                          <a:sym typeface="Helios Bold"/>
                        </a:rPr>
                        <a:t>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Helios Bold"/>
                          <a:ea typeface="Helios Bold"/>
                          <a:cs typeface="Helios Bold"/>
                          <a:sym typeface="Helios Bold"/>
                        </a:rPr>
                        <a:t>X-ray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1719">
                <a:tc>
                  <a:txBody>
                    <a:bodyPr anchor="t" rtlCol="false"/>
                    <a:lstStyle/>
                    <a:p>
                      <a:pPr algn="ctr">
                        <a:lnSpc>
                          <a:spcPts val="2520"/>
                        </a:lnSpc>
                        <a:defRPr/>
                      </a:pPr>
                      <a:r>
                        <a:rPr lang="en-US" sz="1800">
                          <a:solidFill>
                            <a:srgbClr val="000000"/>
                          </a:solidFill>
                          <a:latin typeface="Helios"/>
                          <a:ea typeface="Helios"/>
                          <a:cs typeface="Helios"/>
                          <a:sym typeface="Helios"/>
                        </a:rPr>
                        <a:t>SOTA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94.7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76.7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77.3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70288">
                <a:tc>
                  <a:txBody>
                    <a:bodyPr anchor="t" rtlCol="false"/>
                    <a:lstStyle/>
                    <a:p>
                      <a:pPr algn="ctr">
                        <a:lnSpc>
                          <a:spcPts val="2520"/>
                        </a:lnSpc>
                        <a:defRPr/>
                      </a:pPr>
                      <a:r>
                        <a:rPr lang="en-US" sz="1800">
                          <a:solidFill>
                            <a:srgbClr val="000000"/>
                          </a:solidFill>
                          <a:latin typeface="Helios"/>
                          <a:ea typeface="Helios"/>
                          <a:cs typeface="Helios"/>
                          <a:sym typeface="Helios"/>
                        </a:rPr>
                        <a:t>Our Approach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94.7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76.7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lios"/>
                          <a:ea typeface="Helios"/>
                          <a:cs typeface="Helios"/>
                          <a:sym typeface="Helios"/>
                        </a:rPr>
                        <a:t>76.0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9" id="9"/>
          <p:cNvSpPr/>
          <p:nvPr/>
        </p:nvSpPr>
        <p:spPr>
          <a:xfrm>
            <a:off x="0" y="3857536"/>
            <a:ext cx="18518312" cy="2351358"/>
          </a:xfrm>
          <a:custGeom>
            <a:avLst/>
            <a:gdLst/>
            <a:ahLst/>
            <a:cxnLst/>
            <a:rect r="r" b="b" t="t" l="l"/>
            <a:pathLst>
              <a:path h="2351358" w="18518312">
                <a:moveTo>
                  <a:pt x="0" y="2005062"/>
                </a:moveTo>
                <a:lnTo>
                  <a:pt x="0" y="2178210"/>
                </a:lnTo>
                <a:cubicBezTo>
                  <a:pt x="0" y="2273837"/>
                  <a:pt x="77521" y="2351358"/>
                  <a:pt x="173148" y="2351358"/>
                </a:cubicBezTo>
                <a:lnTo>
                  <a:pt x="8430440" y="2351358"/>
                </a:lnTo>
                <a:cubicBezTo>
                  <a:pt x="8556692" y="2351358"/>
                  <a:pt x="8659040" y="2249011"/>
                  <a:pt x="8659040" y="2122758"/>
                </a:cubicBezTo>
                <a:lnTo>
                  <a:pt x="8659040" y="228600"/>
                </a:lnTo>
                <a:cubicBezTo>
                  <a:pt x="8659040" y="167972"/>
                  <a:pt x="8683125" y="109826"/>
                  <a:pt x="8725996" y="66955"/>
                </a:cubicBezTo>
                <a:cubicBezTo>
                  <a:pt x="8768866" y="24085"/>
                  <a:pt x="8827012" y="0"/>
                  <a:pt x="8887640" y="0"/>
                </a:cubicBezTo>
                <a:lnTo>
                  <a:pt x="18426644" y="0"/>
                </a:lnTo>
                <a:cubicBezTo>
                  <a:pt x="18450956" y="0"/>
                  <a:pt x="18474272" y="9658"/>
                  <a:pt x="18491464" y="26849"/>
                </a:cubicBezTo>
                <a:cubicBezTo>
                  <a:pt x="18508653" y="44040"/>
                  <a:pt x="18518312" y="67355"/>
                  <a:pt x="18518312" y="91667"/>
                </a:cubicBezTo>
                <a:lnTo>
                  <a:pt x="18518312" y="91667"/>
                </a:lnTo>
                <a:cubicBezTo>
                  <a:pt x="18518312" y="115979"/>
                  <a:pt x="18508653" y="139294"/>
                  <a:pt x="18491464" y="156485"/>
                </a:cubicBezTo>
                <a:cubicBezTo>
                  <a:pt x="18474272" y="173676"/>
                  <a:pt x="18450956" y="183334"/>
                  <a:pt x="18426644" y="183334"/>
                </a:cubicBezTo>
                <a:lnTo>
                  <a:pt x="17951238" y="183334"/>
                </a:lnTo>
              </a:path>
            </a:pathLst>
          </a:custGeom>
          <a:ln cap="flat" w="38100">
            <a:solidFill>
              <a:srgbClr val="718BAB"/>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23090"/>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TextBox 5" id="5"/>
          <p:cNvSpPr txBox="true"/>
          <p:nvPr/>
        </p:nvSpPr>
        <p:spPr>
          <a:xfrm rot="0">
            <a:off x="1028700" y="2591354"/>
            <a:ext cx="16230600" cy="6973886"/>
          </a:xfrm>
          <a:prstGeom prst="rect">
            <a:avLst/>
          </a:prstGeom>
        </p:spPr>
        <p:txBody>
          <a:bodyPr anchor="t" rtlCol="false" tIns="0" lIns="0" bIns="0" rIns="0">
            <a:spAutoFit/>
          </a:bodyPr>
          <a:lstStyle/>
          <a:p>
            <a:pPr algn="l">
              <a:lnSpc>
                <a:spcPts val="4725"/>
              </a:lnSpc>
            </a:pPr>
            <a:r>
              <a:rPr lang="en-US" sz="2500" i="true">
                <a:solidFill>
                  <a:srgbClr val="000000"/>
                </a:solidFill>
                <a:latin typeface="Helios Italics"/>
                <a:ea typeface="Helios Italics"/>
                <a:cs typeface="Helios Italics"/>
                <a:sym typeface="Helios Italics"/>
              </a:rPr>
              <a:t>What is the abnormality that can be seen in this image?</a:t>
            </a:r>
          </a:p>
          <a:p>
            <a:pPr algn="l">
              <a:lnSpc>
                <a:spcPts val="4725"/>
              </a:lnSpc>
            </a:pPr>
            <a:r>
              <a:rPr lang="en-US" sz="2500" i="true">
                <a:solidFill>
                  <a:srgbClr val="000000"/>
                </a:solidFill>
                <a:latin typeface="Helios Italics"/>
                <a:ea typeface="Helios Italics"/>
                <a:cs typeface="Helios Italics"/>
                <a:sym typeface="Helios Italics"/>
              </a:rPr>
              <a:t>A) Cartilage degeneration</a:t>
            </a:r>
          </a:p>
          <a:p>
            <a:pPr algn="l">
              <a:lnSpc>
                <a:spcPts val="4725"/>
              </a:lnSpc>
            </a:pPr>
            <a:r>
              <a:rPr lang="en-US" sz="2500" i="true">
                <a:solidFill>
                  <a:srgbClr val="000000"/>
                </a:solidFill>
                <a:latin typeface="Helios Italics"/>
                <a:ea typeface="Helios Italics"/>
                <a:cs typeface="Helios Italics"/>
                <a:sym typeface="Helios Italics"/>
              </a:rPr>
              <a:t>B) Tendonitis</a:t>
            </a:r>
          </a:p>
          <a:p>
            <a:pPr algn="l">
              <a:lnSpc>
                <a:spcPts val="4725"/>
              </a:lnSpc>
            </a:pPr>
            <a:r>
              <a:rPr lang="en-US" sz="2500" i="true">
                <a:solidFill>
                  <a:srgbClr val="000000"/>
                </a:solidFill>
                <a:latin typeface="Helios Italics"/>
                <a:ea typeface="Helios Italics"/>
                <a:cs typeface="Helios Italics"/>
                <a:sym typeface="Helios Italics"/>
              </a:rPr>
              <a:t>C) Nerve compression</a:t>
            </a:r>
          </a:p>
          <a:p>
            <a:pPr algn="l">
              <a:lnSpc>
                <a:spcPts val="4725"/>
              </a:lnSpc>
            </a:pPr>
            <a:r>
              <a:rPr lang="en-US" sz="2500" i="true">
                <a:solidFill>
                  <a:srgbClr val="000000"/>
                </a:solidFill>
                <a:latin typeface="Helios Italics"/>
                <a:ea typeface="Helios Italics"/>
                <a:cs typeface="Helios Italics"/>
                <a:sym typeface="Helios Italics"/>
              </a:rPr>
              <a:t>D) Labral pathology</a:t>
            </a:r>
          </a:p>
          <a:p>
            <a:pPr algn="l">
              <a:lnSpc>
                <a:spcPts val="3500"/>
              </a:lnSpc>
              <a:spcBef>
                <a:spcPct val="0"/>
              </a:spcBef>
            </a:pPr>
          </a:p>
          <a:p>
            <a:pPr algn="l">
              <a:lnSpc>
                <a:spcPts val="3500"/>
              </a:lnSpc>
              <a:spcBef>
                <a:spcPct val="0"/>
              </a:spcBef>
            </a:pPr>
            <a:r>
              <a:rPr lang="en-US" b="true" sz="2500">
                <a:solidFill>
                  <a:srgbClr val="000000"/>
                </a:solidFill>
                <a:latin typeface="Helios Bold"/>
                <a:ea typeface="Helios Bold"/>
                <a:cs typeface="Helios Bold"/>
                <a:sym typeface="Helios Bold"/>
              </a:rPr>
              <a:t>Model Output:</a:t>
            </a:r>
          </a:p>
          <a:p>
            <a:pPr algn="l">
              <a:lnSpc>
                <a:spcPts val="3500"/>
              </a:lnSpc>
              <a:spcBef>
                <a:spcPct val="0"/>
              </a:spcBef>
            </a:pPr>
          </a:p>
          <a:p>
            <a:pPr algn="l">
              <a:lnSpc>
                <a:spcPts val="3500"/>
              </a:lnSpc>
              <a:spcBef>
                <a:spcPct val="0"/>
              </a:spcBef>
            </a:pPr>
            <a:r>
              <a:rPr lang="en-US" b="true" sz="2500">
                <a:solidFill>
                  <a:srgbClr val="000000"/>
                </a:solidFill>
                <a:latin typeface="Helios Bold"/>
                <a:ea typeface="Helios Bold"/>
                <a:cs typeface="Helios Bold"/>
                <a:sym typeface="Helios Bold"/>
              </a:rPr>
              <a:t>&lt;think&gt;</a:t>
            </a:r>
            <a:r>
              <a:rPr lang="en-US" sz="2500">
                <a:solidFill>
                  <a:srgbClr val="000000"/>
                </a:solidFill>
                <a:latin typeface="Helios"/>
                <a:ea typeface="Helios"/>
                <a:cs typeface="Helios"/>
                <a:sym typeface="Helios"/>
              </a:rPr>
              <a:t>The MRI image shows a shoulder joint with an abnormality in the rotator cuff region. The rotator cuff is a group of muscles and tendons that help stabilize the shoulder joint and provide movement. The abnormality appears as a soft tissue mass, which is characteristic of labral pathology.</a:t>
            </a:r>
            <a:r>
              <a:rPr lang="en-US" b="true" sz="2500">
                <a:solidFill>
                  <a:srgbClr val="000000"/>
                </a:solidFill>
                <a:latin typeface="Helios Bold"/>
                <a:ea typeface="Helios Bold"/>
                <a:cs typeface="Helios Bold"/>
                <a:sym typeface="Helios Bold"/>
              </a:rPr>
              <a:t>&lt;/think&gt;</a:t>
            </a:r>
          </a:p>
          <a:p>
            <a:pPr algn="l">
              <a:lnSpc>
                <a:spcPts val="3500"/>
              </a:lnSpc>
              <a:spcBef>
                <a:spcPct val="0"/>
              </a:spcBef>
            </a:pPr>
          </a:p>
          <a:p>
            <a:pPr algn="just">
              <a:lnSpc>
                <a:spcPts val="3500"/>
              </a:lnSpc>
              <a:spcBef>
                <a:spcPct val="0"/>
              </a:spcBef>
            </a:pPr>
            <a:r>
              <a:rPr lang="en-US" b="true" sz="2500">
                <a:solidFill>
                  <a:srgbClr val="000000"/>
                </a:solidFill>
                <a:latin typeface="Helios Bold"/>
                <a:ea typeface="Helios Bold"/>
                <a:cs typeface="Helios Bold"/>
                <a:sym typeface="Helios Bold"/>
              </a:rPr>
              <a:t>&lt;answer&gt;</a:t>
            </a:r>
            <a:r>
              <a:rPr lang="en-US" sz="2500">
                <a:solidFill>
                  <a:srgbClr val="000000"/>
                </a:solidFill>
                <a:latin typeface="Helios"/>
                <a:ea typeface="Helios"/>
                <a:cs typeface="Helios"/>
                <a:sym typeface="Helios"/>
              </a:rPr>
              <a:t>D</a:t>
            </a:r>
            <a:r>
              <a:rPr lang="en-US" b="true" sz="2500">
                <a:solidFill>
                  <a:srgbClr val="000000"/>
                </a:solidFill>
                <a:latin typeface="Helios Bold"/>
                <a:ea typeface="Helios Bold"/>
                <a:cs typeface="Helios Bold"/>
                <a:sym typeface="Helios Bold"/>
              </a:rPr>
              <a:t>&lt;/answer&gt;                                                                                                                     Ground Truth: D</a:t>
            </a:r>
          </a:p>
          <a:p>
            <a:pPr algn="just">
              <a:lnSpc>
                <a:spcPts val="3500"/>
              </a:lnSpc>
              <a:spcBef>
                <a:spcPct val="0"/>
              </a:spcBef>
            </a:pPr>
          </a:p>
        </p:txBody>
      </p:sp>
      <p:sp>
        <p:nvSpPr>
          <p:cNvPr name="Freeform 6" id="6"/>
          <p:cNvSpPr/>
          <p:nvPr/>
        </p:nvSpPr>
        <p:spPr>
          <a:xfrm flipH="false" flipV="false" rot="0">
            <a:off x="13781127" y="2762804"/>
            <a:ext cx="3478173" cy="3478173"/>
          </a:xfrm>
          <a:custGeom>
            <a:avLst/>
            <a:gdLst/>
            <a:ahLst/>
            <a:cxnLst/>
            <a:rect r="r" b="b" t="t" l="l"/>
            <a:pathLst>
              <a:path h="3478173" w="3478173">
                <a:moveTo>
                  <a:pt x="0" y="0"/>
                </a:moveTo>
                <a:lnTo>
                  <a:pt x="3478173" y="0"/>
                </a:lnTo>
                <a:lnTo>
                  <a:pt x="3478173" y="3478173"/>
                </a:lnTo>
                <a:lnTo>
                  <a:pt x="0" y="3478173"/>
                </a:lnTo>
                <a:lnTo>
                  <a:pt x="0" y="0"/>
                </a:lnTo>
                <a:close/>
              </a:path>
            </a:pathLst>
          </a:custGeom>
          <a:blipFill>
            <a:blip r:embed="rId2"/>
            <a:stretch>
              <a:fillRect l="0" t="0" r="0" b="0"/>
            </a:stretch>
          </a:blipFill>
        </p:spPr>
      </p:sp>
      <p:sp>
        <p:nvSpPr>
          <p:cNvPr name="TextBox 7" id="7"/>
          <p:cNvSpPr txBox="true"/>
          <p:nvPr/>
        </p:nvSpPr>
        <p:spPr>
          <a:xfrm rot="0">
            <a:off x="1028700" y="923925"/>
            <a:ext cx="7574756" cy="868363"/>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Helios Bold"/>
                <a:ea typeface="Helios Bold"/>
                <a:cs typeface="Helios Bold"/>
                <a:sym typeface="Helios Bold"/>
              </a:rPr>
              <a:t>QUALITATIVE ANALYSIS</a:t>
            </a:r>
          </a:p>
        </p:txBody>
      </p:sp>
      <p:sp>
        <p:nvSpPr>
          <p:cNvPr name="TextBox 8" id="8"/>
          <p:cNvSpPr txBox="true"/>
          <p:nvPr/>
        </p:nvSpPr>
        <p:spPr>
          <a:xfrm rot="0">
            <a:off x="1028700" y="1982271"/>
            <a:ext cx="2837334"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Helios Bold"/>
                <a:ea typeface="Helios Bold"/>
                <a:cs typeface="Helios Bold"/>
                <a:sym typeface="Helios Bold"/>
              </a:rPr>
              <a:t>Example 1: MRI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23090"/>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TextBox 5" id="5"/>
          <p:cNvSpPr txBox="true"/>
          <p:nvPr/>
        </p:nvSpPr>
        <p:spPr>
          <a:xfrm rot="0">
            <a:off x="1123392" y="1642560"/>
            <a:ext cx="16230600" cy="8288336"/>
          </a:xfrm>
          <a:prstGeom prst="rect">
            <a:avLst/>
          </a:prstGeom>
        </p:spPr>
        <p:txBody>
          <a:bodyPr anchor="t" rtlCol="false" tIns="0" lIns="0" bIns="0" rIns="0">
            <a:spAutoFit/>
          </a:bodyPr>
          <a:lstStyle/>
          <a:p>
            <a:pPr algn="l">
              <a:lnSpc>
                <a:spcPts val="4725"/>
              </a:lnSpc>
            </a:pPr>
            <a:r>
              <a:rPr lang="en-US" sz="2500" i="true">
                <a:solidFill>
                  <a:srgbClr val="000000"/>
                </a:solidFill>
                <a:latin typeface="Helios Italics"/>
                <a:ea typeface="Helios Italics"/>
                <a:cs typeface="Helios Italics"/>
                <a:sym typeface="Helios Italics"/>
              </a:rPr>
              <a:t>What is the term referring to the abnormality observed in the image?</a:t>
            </a:r>
          </a:p>
          <a:p>
            <a:pPr algn="l">
              <a:lnSpc>
                <a:spcPts val="4725"/>
              </a:lnSpc>
            </a:pPr>
            <a:r>
              <a:rPr lang="en-US" sz="2500" i="true">
                <a:solidFill>
                  <a:srgbClr val="000000"/>
                </a:solidFill>
                <a:latin typeface="Helios Italics"/>
                <a:ea typeface="Helios Italics"/>
                <a:cs typeface="Helios Italics"/>
                <a:sym typeface="Helios Italics"/>
              </a:rPr>
              <a:t>A) Airspace opacity</a:t>
            </a:r>
          </a:p>
          <a:p>
            <a:pPr algn="l">
              <a:lnSpc>
                <a:spcPts val="4725"/>
              </a:lnSpc>
            </a:pPr>
            <a:r>
              <a:rPr lang="en-US" sz="2500" i="true">
                <a:solidFill>
                  <a:srgbClr val="000000"/>
                </a:solidFill>
                <a:latin typeface="Helios Italics"/>
                <a:ea typeface="Helios Italics"/>
                <a:cs typeface="Helios Italics"/>
                <a:sym typeface="Helios Italics"/>
              </a:rPr>
              <a:t>B) Pleural effusion</a:t>
            </a:r>
          </a:p>
          <a:p>
            <a:pPr algn="l">
              <a:lnSpc>
                <a:spcPts val="4725"/>
              </a:lnSpc>
            </a:pPr>
            <a:r>
              <a:rPr lang="en-US" sz="2500" i="true">
                <a:solidFill>
                  <a:srgbClr val="000000"/>
                </a:solidFill>
                <a:latin typeface="Helios Italics"/>
                <a:ea typeface="Helios Italics"/>
                <a:cs typeface="Helios Italics"/>
                <a:sym typeface="Helios Italics"/>
              </a:rPr>
              <a:t>C) Lung consolidation</a:t>
            </a:r>
          </a:p>
          <a:p>
            <a:pPr algn="l">
              <a:lnSpc>
                <a:spcPts val="4725"/>
              </a:lnSpc>
            </a:pPr>
            <a:r>
              <a:rPr lang="en-US" sz="2500" i="true">
                <a:solidFill>
                  <a:srgbClr val="000000"/>
                </a:solidFill>
                <a:latin typeface="Helios Italics"/>
                <a:ea typeface="Helios Italics"/>
                <a:cs typeface="Helios Italics"/>
                <a:sym typeface="Helios Italics"/>
              </a:rPr>
              <a:t>D) Atelectasis</a:t>
            </a:r>
          </a:p>
          <a:p>
            <a:pPr algn="l">
              <a:lnSpc>
                <a:spcPts val="3500"/>
              </a:lnSpc>
              <a:spcBef>
                <a:spcPct val="0"/>
              </a:spcBef>
            </a:pPr>
          </a:p>
          <a:p>
            <a:pPr algn="l">
              <a:lnSpc>
                <a:spcPts val="3500"/>
              </a:lnSpc>
              <a:spcBef>
                <a:spcPct val="0"/>
              </a:spcBef>
            </a:pPr>
            <a:r>
              <a:rPr lang="en-US" b="true" sz="2500">
                <a:solidFill>
                  <a:srgbClr val="000000"/>
                </a:solidFill>
                <a:latin typeface="Helios Bold"/>
                <a:ea typeface="Helios Bold"/>
                <a:cs typeface="Helios Bold"/>
                <a:sym typeface="Helios Bold"/>
              </a:rPr>
              <a:t>Model Output:</a:t>
            </a:r>
          </a:p>
          <a:p>
            <a:pPr algn="l">
              <a:lnSpc>
                <a:spcPts val="3500"/>
              </a:lnSpc>
              <a:spcBef>
                <a:spcPct val="0"/>
              </a:spcBef>
            </a:pPr>
          </a:p>
          <a:p>
            <a:pPr algn="l">
              <a:lnSpc>
                <a:spcPts val="3500"/>
              </a:lnSpc>
              <a:spcBef>
                <a:spcPct val="0"/>
              </a:spcBef>
            </a:pPr>
            <a:r>
              <a:rPr lang="en-US" b="true" sz="2500">
                <a:solidFill>
                  <a:srgbClr val="000000"/>
                </a:solidFill>
                <a:latin typeface="Helios Bold"/>
                <a:ea typeface="Helios Bold"/>
                <a:cs typeface="Helios Bold"/>
                <a:sym typeface="Helios Bold"/>
              </a:rPr>
              <a:t>&lt;think&gt;</a:t>
            </a:r>
            <a:r>
              <a:rPr lang="en-US" sz="2500">
                <a:solidFill>
                  <a:srgbClr val="000000"/>
                </a:solidFill>
                <a:latin typeface="Helios"/>
                <a:ea typeface="Helios"/>
                <a:cs typeface="Helios"/>
                <a:sym typeface="Helios"/>
              </a:rPr>
              <a:t>The image shows a cross-sectional view of the chest, which is a common imaging technique used in medical diagnostics. The abnormality observed in the image appears as an area of increased density, which is characteristic of a consolidation or a mass. The presence of airspaces and the normal appearance of the pleura suggest that this is not a pleural effusion or a mass effect. The absence of signs of atelectasis (e.g., air trapping) makes it less likely to be  mass effect.</a:t>
            </a:r>
          </a:p>
          <a:p>
            <a:pPr algn="l">
              <a:lnSpc>
                <a:spcPts val="3500"/>
              </a:lnSpc>
              <a:spcBef>
                <a:spcPct val="0"/>
              </a:spcBef>
            </a:pPr>
            <a:r>
              <a:rPr lang="en-US" b="true" sz="2500">
                <a:solidFill>
                  <a:srgbClr val="000000"/>
                </a:solidFill>
                <a:latin typeface="Helios Bold"/>
                <a:ea typeface="Helios Bold"/>
                <a:cs typeface="Helios Bold"/>
                <a:sym typeface="Helios Bold"/>
              </a:rPr>
              <a:t>&lt;/think&gt;</a:t>
            </a:r>
          </a:p>
          <a:p>
            <a:pPr algn="l">
              <a:lnSpc>
                <a:spcPts val="3500"/>
              </a:lnSpc>
              <a:spcBef>
                <a:spcPct val="0"/>
              </a:spcBef>
            </a:pPr>
          </a:p>
          <a:p>
            <a:pPr algn="just">
              <a:lnSpc>
                <a:spcPts val="3500"/>
              </a:lnSpc>
              <a:spcBef>
                <a:spcPct val="0"/>
              </a:spcBef>
            </a:pPr>
            <a:r>
              <a:rPr lang="en-US" b="true" sz="2500">
                <a:solidFill>
                  <a:srgbClr val="000000"/>
                </a:solidFill>
                <a:latin typeface="Helios Bold"/>
                <a:ea typeface="Helios Bold"/>
                <a:cs typeface="Helios Bold"/>
                <a:sym typeface="Helios Bold"/>
              </a:rPr>
              <a:t>&lt;answer&gt;A&lt;/answer&gt;                                                                                                                     Ground Truth: A</a:t>
            </a:r>
          </a:p>
          <a:p>
            <a:pPr algn="just">
              <a:lnSpc>
                <a:spcPts val="3500"/>
              </a:lnSpc>
              <a:spcBef>
                <a:spcPct val="0"/>
              </a:spcBef>
            </a:pPr>
          </a:p>
        </p:txBody>
      </p:sp>
      <p:sp>
        <p:nvSpPr>
          <p:cNvPr name="Freeform 6" id="6"/>
          <p:cNvSpPr/>
          <p:nvPr/>
        </p:nvSpPr>
        <p:spPr>
          <a:xfrm flipH="false" flipV="false" rot="0">
            <a:off x="13978452" y="1814010"/>
            <a:ext cx="3280848" cy="3493138"/>
          </a:xfrm>
          <a:custGeom>
            <a:avLst/>
            <a:gdLst/>
            <a:ahLst/>
            <a:cxnLst/>
            <a:rect r="r" b="b" t="t" l="l"/>
            <a:pathLst>
              <a:path h="3493138" w="3280848">
                <a:moveTo>
                  <a:pt x="0" y="0"/>
                </a:moveTo>
                <a:lnTo>
                  <a:pt x="3280848" y="0"/>
                </a:lnTo>
                <a:lnTo>
                  <a:pt x="3280848" y="3493137"/>
                </a:lnTo>
                <a:lnTo>
                  <a:pt x="0" y="3493137"/>
                </a:lnTo>
                <a:lnTo>
                  <a:pt x="0" y="0"/>
                </a:lnTo>
                <a:close/>
              </a:path>
            </a:pathLst>
          </a:custGeom>
          <a:blipFill>
            <a:blip r:embed="rId2"/>
            <a:stretch>
              <a:fillRect l="0" t="0" r="0" b="0"/>
            </a:stretch>
          </a:blipFill>
        </p:spPr>
      </p:sp>
      <p:sp>
        <p:nvSpPr>
          <p:cNvPr name="TextBox 7" id="7"/>
          <p:cNvSpPr txBox="true"/>
          <p:nvPr/>
        </p:nvSpPr>
        <p:spPr>
          <a:xfrm rot="0">
            <a:off x="1123392" y="962025"/>
            <a:ext cx="2647950"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Helios Bold"/>
                <a:ea typeface="Helios Bold"/>
                <a:cs typeface="Helios Bold"/>
                <a:sym typeface="Helios Bold"/>
              </a:rPr>
              <a:t>Example 2: CT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23090"/>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TextBox 5" id="5"/>
          <p:cNvSpPr txBox="true"/>
          <p:nvPr/>
        </p:nvSpPr>
        <p:spPr>
          <a:xfrm rot="0">
            <a:off x="893638" y="1613648"/>
            <a:ext cx="16230600" cy="8450261"/>
          </a:xfrm>
          <a:prstGeom prst="rect">
            <a:avLst/>
          </a:prstGeom>
        </p:spPr>
        <p:txBody>
          <a:bodyPr anchor="t" rtlCol="false" tIns="0" lIns="0" bIns="0" rIns="0">
            <a:spAutoFit/>
          </a:bodyPr>
          <a:lstStyle/>
          <a:p>
            <a:pPr algn="l">
              <a:lnSpc>
                <a:spcPts val="4725"/>
              </a:lnSpc>
            </a:pPr>
            <a:r>
              <a:rPr lang="en-US" sz="2500" i="true">
                <a:solidFill>
                  <a:srgbClr val="000000"/>
                </a:solidFill>
                <a:latin typeface="Helios Italics"/>
                <a:ea typeface="Helios Italics"/>
                <a:cs typeface="Helios Italics"/>
                <a:sym typeface="Helios Italics"/>
              </a:rPr>
              <a:t>What is the name of the joint from which the bone in the picture</a:t>
            </a:r>
          </a:p>
          <a:p>
            <a:pPr algn="l">
              <a:lnSpc>
                <a:spcPts val="4725"/>
              </a:lnSpc>
            </a:pPr>
            <a:r>
              <a:rPr lang="en-US" sz="2500" i="true">
                <a:solidFill>
                  <a:srgbClr val="000000"/>
                </a:solidFill>
                <a:latin typeface="Helios Italics"/>
                <a:ea typeface="Helios Italics"/>
                <a:cs typeface="Helios Italics"/>
                <a:sym typeface="Helios Italics"/>
              </a:rPr>
              <a:t>originates?</a:t>
            </a:r>
          </a:p>
          <a:p>
            <a:pPr algn="l">
              <a:lnSpc>
                <a:spcPts val="4725"/>
              </a:lnSpc>
            </a:pPr>
            <a:r>
              <a:rPr lang="en-US" sz="2500" i="true">
                <a:solidFill>
                  <a:srgbClr val="000000"/>
                </a:solidFill>
                <a:latin typeface="Helios Italics"/>
                <a:ea typeface="Helios Italics"/>
                <a:cs typeface="Helios Italics"/>
                <a:sym typeface="Helios Italics"/>
              </a:rPr>
              <a:t>A) Glenohumeral Connection</a:t>
            </a:r>
          </a:p>
          <a:p>
            <a:pPr algn="l">
              <a:lnSpc>
                <a:spcPts val="4725"/>
              </a:lnSpc>
            </a:pPr>
            <a:r>
              <a:rPr lang="en-US" sz="2500" i="true">
                <a:solidFill>
                  <a:srgbClr val="000000"/>
                </a:solidFill>
                <a:latin typeface="Helios Italics"/>
                <a:ea typeface="Helios Italics"/>
                <a:cs typeface="Helios Italics"/>
                <a:sym typeface="Helios Italics"/>
              </a:rPr>
              <a:t>B) Sacroiliac Articulation</a:t>
            </a:r>
          </a:p>
          <a:p>
            <a:pPr algn="l">
              <a:lnSpc>
                <a:spcPts val="4725"/>
              </a:lnSpc>
            </a:pPr>
            <a:r>
              <a:rPr lang="en-US" sz="2500" i="true">
                <a:solidFill>
                  <a:srgbClr val="000000"/>
                </a:solidFill>
                <a:latin typeface="Helios Italics"/>
                <a:ea typeface="Helios Italics"/>
                <a:cs typeface="Helios Italics"/>
                <a:sym typeface="Helios Italics"/>
              </a:rPr>
              <a:t>C) Radius</a:t>
            </a:r>
          </a:p>
          <a:p>
            <a:pPr algn="l">
              <a:lnSpc>
                <a:spcPts val="4725"/>
              </a:lnSpc>
            </a:pPr>
            <a:r>
              <a:rPr lang="en-US" sz="2500" i="true">
                <a:solidFill>
                  <a:srgbClr val="000000"/>
                </a:solidFill>
                <a:latin typeface="Helios Italics"/>
                <a:ea typeface="Helios Italics"/>
                <a:cs typeface="Helios Italics"/>
                <a:sym typeface="Helios Italics"/>
              </a:rPr>
              <a:t>D) Distal Interphalangeal</a:t>
            </a:r>
          </a:p>
          <a:p>
            <a:pPr algn="l">
              <a:lnSpc>
                <a:spcPts val="3500"/>
              </a:lnSpc>
              <a:spcBef>
                <a:spcPct val="0"/>
              </a:spcBef>
            </a:pPr>
          </a:p>
          <a:p>
            <a:pPr algn="l">
              <a:lnSpc>
                <a:spcPts val="3500"/>
              </a:lnSpc>
              <a:spcBef>
                <a:spcPct val="0"/>
              </a:spcBef>
            </a:pPr>
            <a:r>
              <a:rPr lang="en-US" b="true" sz="2500">
                <a:solidFill>
                  <a:srgbClr val="000000"/>
                </a:solidFill>
                <a:latin typeface="Helios Bold"/>
                <a:ea typeface="Helios Bold"/>
                <a:cs typeface="Helios Bold"/>
                <a:sym typeface="Helios Bold"/>
              </a:rPr>
              <a:t>Model Output:</a:t>
            </a:r>
          </a:p>
          <a:p>
            <a:pPr algn="l">
              <a:lnSpc>
                <a:spcPts val="3500"/>
              </a:lnSpc>
              <a:spcBef>
                <a:spcPct val="0"/>
              </a:spcBef>
            </a:pPr>
          </a:p>
          <a:p>
            <a:pPr algn="l">
              <a:lnSpc>
                <a:spcPts val="3500"/>
              </a:lnSpc>
              <a:spcBef>
                <a:spcPct val="0"/>
              </a:spcBef>
            </a:pPr>
            <a:r>
              <a:rPr lang="en-US" b="true" sz="2500">
                <a:solidFill>
                  <a:srgbClr val="000000"/>
                </a:solidFill>
                <a:latin typeface="Helios Bold"/>
                <a:ea typeface="Helios Bold"/>
                <a:cs typeface="Helios Bold"/>
                <a:sym typeface="Helios Bold"/>
              </a:rPr>
              <a:t>&lt;think&gt;</a:t>
            </a:r>
            <a:r>
              <a:rPr lang="en-US" sz="2500">
                <a:solidFill>
                  <a:srgbClr val="000000"/>
                </a:solidFill>
                <a:latin typeface="Helios"/>
                <a:ea typeface="Helios"/>
                <a:cs typeface="Helios"/>
                <a:sym typeface="Helios"/>
              </a:rPr>
              <a:t>The image shows a bone with a fracture, and the bone appears to be from a human finger. The fracture is located at the joint where the bone meets the finger. To determine the name of the joint, let's analyze the image and the bones present. The bone in the image is a long bone, likely from the finger, given its shape and the context of the fracture. The fracture is at the joint where the bone meets the finger, which is the distal interphalangeal (DIP) joint.</a:t>
            </a:r>
            <a:r>
              <a:rPr lang="en-US" b="true" sz="2500">
                <a:solidFill>
                  <a:srgbClr val="000000"/>
                </a:solidFill>
                <a:latin typeface="Helios Bold"/>
                <a:ea typeface="Helios Bold"/>
                <a:cs typeface="Helios Bold"/>
                <a:sym typeface="Helios Bold"/>
              </a:rPr>
              <a:t>&lt;/think&gt;</a:t>
            </a:r>
          </a:p>
          <a:p>
            <a:pPr algn="l">
              <a:lnSpc>
                <a:spcPts val="3500"/>
              </a:lnSpc>
              <a:spcBef>
                <a:spcPct val="0"/>
              </a:spcBef>
            </a:pPr>
          </a:p>
          <a:p>
            <a:pPr algn="just">
              <a:lnSpc>
                <a:spcPts val="3500"/>
              </a:lnSpc>
              <a:spcBef>
                <a:spcPct val="0"/>
              </a:spcBef>
            </a:pPr>
            <a:r>
              <a:rPr lang="en-US" b="true" sz="2500">
                <a:solidFill>
                  <a:srgbClr val="000000"/>
                </a:solidFill>
                <a:latin typeface="Helios Bold"/>
                <a:ea typeface="Helios Bold"/>
                <a:cs typeface="Helios Bold"/>
                <a:sym typeface="Helios Bold"/>
              </a:rPr>
              <a:t>&lt;answer&gt;D&lt;/answer&gt;                                                                                                                     Ground Truth: D</a:t>
            </a:r>
          </a:p>
          <a:p>
            <a:pPr algn="just">
              <a:lnSpc>
                <a:spcPts val="3500"/>
              </a:lnSpc>
              <a:spcBef>
                <a:spcPct val="0"/>
              </a:spcBef>
            </a:pPr>
          </a:p>
        </p:txBody>
      </p:sp>
      <p:sp>
        <p:nvSpPr>
          <p:cNvPr name="Freeform 6" id="6"/>
          <p:cNvSpPr/>
          <p:nvPr/>
        </p:nvSpPr>
        <p:spPr>
          <a:xfrm flipH="false" flipV="false" rot="0">
            <a:off x="14025584" y="1785098"/>
            <a:ext cx="3098655" cy="3714141"/>
          </a:xfrm>
          <a:custGeom>
            <a:avLst/>
            <a:gdLst/>
            <a:ahLst/>
            <a:cxnLst/>
            <a:rect r="r" b="b" t="t" l="l"/>
            <a:pathLst>
              <a:path h="3714141" w="3098655">
                <a:moveTo>
                  <a:pt x="0" y="0"/>
                </a:moveTo>
                <a:lnTo>
                  <a:pt x="3098654" y="0"/>
                </a:lnTo>
                <a:lnTo>
                  <a:pt x="3098654" y="3714141"/>
                </a:lnTo>
                <a:lnTo>
                  <a:pt x="0" y="3714141"/>
                </a:lnTo>
                <a:lnTo>
                  <a:pt x="0" y="0"/>
                </a:lnTo>
                <a:close/>
              </a:path>
            </a:pathLst>
          </a:custGeom>
          <a:blipFill>
            <a:blip r:embed="rId2"/>
            <a:stretch>
              <a:fillRect l="0" t="0" r="0" b="0"/>
            </a:stretch>
          </a:blipFill>
        </p:spPr>
      </p:sp>
      <p:sp>
        <p:nvSpPr>
          <p:cNvPr name="TextBox 7" id="7"/>
          <p:cNvSpPr txBox="true"/>
          <p:nvPr/>
        </p:nvSpPr>
        <p:spPr>
          <a:xfrm rot="0">
            <a:off x="893638" y="962025"/>
            <a:ext cx="3107457"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Helios Bold"/>
                <a:ea typeface="Helios Bold"/>
                <a:cs typeface="Helios Bold"/>
                <a:sym typeface="Helios Bold"/>
              </a:rPr>
              <a:t>Example 3: X-ray</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23090"/>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TextBox 5" id="5"/>
          <p:cNvSpPr txBox="true"/>
          <p:nvPr/>
        </p:nvSpPr>
        <p:spPr>
          <a:xfrm rot="0">
            <a:off x="1028700" y="2230767"/>
            <a:ext cx="16476996" cy="3064192"/>
          </a:xfrm>
          <a:prstGeom prst="rect">
            <a:avLst/>
          </a:prstGeom>
        </p:spPr>
        <p:txBody>
          <a:bodyPr anchor="t" rtlCol="false" tIns="0" lIns="0" bIns="0" rIns="0">
            <a:spAutoFit/>
          </a:bodyPr>
          <a:lstStyle/>
          <a:p>
            <a:pPr algn="l" marL="690881" indent="-345440" lvl="1">
              <a:lnSpc>
                <a:spcPts val="4800"/>
              </a:lnSpc>
              <a:buFont typeface="Arial"/>
              <a:buChar char="•"/>
            </a:pPr>
            <a:r>
              <a:rPr lang="en-US" b="true" sz="3200">
                <a:solidFill>
                  <a:srgbClr val="000000"/>
                </a:solidFill>
                <a:latin typeface="Helios Bold"/>
                <a:ea typeface="Helios Bold"/>
                <a:cs typeface="Helios Bold"/>
                <a:sym typeface="Helios Bold"/>
              </a:rPr>
              <a:t>26× faster training</a:t>
            </a:r>
            <a:r>
              <a:rPr lang="en-US" sz="3200">
                <a:solidFill>
                  <a:srgbClr val="000000"/>
                </a:solidFill>
                <a:latin typeface="Helios"/>
                <a:ea typeface="Helios"/>
                <a:cs typeface="Helios"/>
                <a:sym typeface="Helios"/>
              </a:rPr>
              <a:t> → practical even without high-</a:t>
            </a:r>
            <a:r>
              <a:rPr lang="en-US" sz="3200">
                <a:solidFill>
                  <a:srgbClr val="000000"/>
                </a:solidFill>
                <a:latin typeface="Helios"/>
                <a:ea typeface="Helios"/>
                <a:cs typeface="Helios"/>
                <a:sym typeface="Helios"/>
              </a:rPr>
              <a:t>en</a:t>
            </a:r>
            <a:r>
              <a:rPr lang="en-US" sz="3200">
                <a:solidFill>
                  <a:srgbClr val="000000"/>
                </a:solidFill>
                <a:latin typeface="Helios"/>
                <a:ea typeface="Helios"/>
                <a:cs typeface="Helios"/>
                <a:sym typeface="Helios"/>
              </a:rPr>
              <a:t>d systems</a:t>
            </a:r>
          </a:p>
          <a:p>
            <a:pPr algn="l" marL="690881" indent="-345440" lvl="1">
              <a:lnSpc>
                <a:spcPts val="4800"/>
              </a:lnSpc>
              <a:buFont typeface="Arial"/>
              <a:buChar char="•"/>
            </a:pPr>
            <a:r>
              <a:rPr lang="en-US" sz="3200">
                <a:solidFill>
                  <a:srgbClr val="000000"/>
                </a:solidFill>
                <a:latin typeface="Helios"/>
                <a:ea typeface="Helios"/>
                <a:cs typeface="Helios"/>
                <a:sym typeface="Helios"/>
              </a:rPr>
              <a:t>Works ac</a:t>
            </a:r>
            <a:r>
              <a:rPr lang="en-US" sz="3200">
                <a:solidFill>
                  <a:srgbClr val="000000"/>
                </a:solidFill>
                <a:latin typeface="Helios"/>
                <a:ea typeface="Helios"/>
                <a:cs typeface="Helios"/>
                <a:sym typeface="Helios"/>
              </a:rPr>
              <a:t>ross</a:t>
            </a:r>
            <a:r>
              <a:rPr lang="en-US" sz="3200">
                <a:solidFill>
                  <a:srgbClr val="000000"/>
                </a:solidFill>
                <a:latin typeface="Helios"/>
                <a:ea typeface="Helios"/>
                <a:cs typeface="Helios"/>
                <a:sym typeface="Helios"/>
              </a:rPr>
              <a:t> </a:t>
            </a:r>
            <a:r>
              <a:rPr lang="en-US" b="true" sz="3200">
                <a:solidFill>
                  <a:srgbClr val="000000"/>
                </a:solidFill>
                <a:latin typeface="Helios Bold"/>
                <a:ea typeface="Helios Bold"/>
                <a:cs typeface="Helios Bold"/>
                <a:sym typeface="Helios Bold"/>
              </a:rPr>
              <a:t>MRI, CT, and X-ray,</a:t>
            </a:r>
            <a:r>
              <a:rPr lang="en-US" sz="3200">
                <a:solidFill>
                  <a:srgbClr val="000000"/>
                </a:solidFill>
                <a:latin typeface="Helios"/>
                <a:ea typeface="Helios"/>
                <a:cs typeface="Helios"/>
                <a:sym typeface="Helios"/>
              </a:rPr>
              <a:t> even though trained only on MRI</a:t>
            </a:r>
          </a:p>
          <a:p>
            <a:pPr algn="l" marL="690881" indent="-345440" lvl="1">
              <a:lnSpc>
                <a:spcPts val="4800"/>
              </a:lnSpc>
              <a:buFont typeface="Arial"/>
              <a:buChar char="•"/>
            </a:pPr>
            <a:r>
              <a:rPr lang="en-US" sz="3200">
                <a:solidFill>
                  <a:srgbClr val="000000"/>
                </a:solidFill>
                <a:latin typeface="Helios"/>
                <a:ea typeface="Helios"/>
                <a:cs typeface="Helios"/>
                <a:sym typeface="Helios"/>
              </a:rPr>
              <a:t>R</a:t>
            </a:r>
            <a:r>
              <a:rPr lang="en-US" sz="3200">
                <a:solidFill>
                  <a:srgbClr val="000000"/>
                </a:solidFill>
                <a:latin typeface="Helios"/>
                <a:ea typeface="Helios"/>
                <a:cs typeface="Helios"/>
                <a:sym typeface="Helios"/>
              </a:rPr>
              <a:t>uns on </a:t>
            </a:r>
            <a:r>
              <a:rPr lang="en-US" b="true" sz="3200">
                <a:solidFill>
                  <a:srgbClr val="000000"/>
                </a:solidFill>
                <a:latin typeface="Helios Bold"/>
                <a:ea typeface="Helios Bold"/>
                <a:cs typeface="Helios Bold"/>
                <a:sym typeface="Helios Bold"/>
              </a:rPr>
              <a:t>low hardware,</a:t>
            </a:r>
            <a:r>
              <a:rPr lang="en-US" sz="3200">
                <a:solidFill>
                  <a:srgbClr val="000000"/>
                </a:solidFill>
                <a:latin typeface="Helios"/>
                <a:ea typeface="Helios"/>
                <a:cs typeface="Helios"/>
                <a:sym typeface="Helios"/>
              </a:rPr>
              <a:t> making it suitable for </a:t>
            </a:r>
            <a:r>
              <a:rPr lang="en-US" b="true" sz="3200">
                <a:solidFill>
                  <a:srgbClr val="000000"/>
                </a:solidFill>
                <a:latin typeface="Helios Bold"/>
                <a:ea typeface="Helios Bold"/>
                <a:cs typeface="Helios Bold"/>
                <a:sym typeface="Helios Bold"/>
              </a:rPr>
              <a:t>smaller</a:t>
            </a:r>
            <a:r>
              <a:rPr lang="en-US" sz="3200">
                <a:solidFill>
                  <a:srgbClr val="000000"/>
                </a:solidFill>
                <a:latin typeface="Helios"/>
                <a:ea typeface="Helios"/>
                <a:cs typeface="Helios"/>
                <a:sym typeface="Helios"/>
              </a:rPr>
              <a:t> or </a:t>
            </a:r>
            <a:r>
              <a:rPr lang="en-US" b="true" sz="3200">
                <a:solidFill>
                  <a:srgbClr val="000000"/>
                </a:solidFill>
                <a:latin typeface="Helios Bold"/>
                <a:ea typeface="Helios Bold"/>
                <a:cs typeface="Helios Bold"/>
                <a:sym typeface="Helios Bold"/>
              </a:rPr>
              <a:t>rural</a:t>
            </a:r>
            <a:r>
              <a:rPr lang="en-US" sz="3200">
                <a:solidFill>
                  <a:srgbClr val="000000"/>
                </a:solidFill>
                <a:latin typeface="Helios"/>
                <a:ea typeface="Helios"/>
                <a:cs typeface="Helios"/>
                <a:sym typeface="Helios"/>
              </a:rPr>
              <a:t> hosp</a:t>
            </a:r>
            <a:r>
              <a:rPr lang="en-US" sz="3200">
                <a:solidFill>
                  <a:srgbClr val="000000"/>
                </a:solidFill>
                <a:latin typeface="Helios"/>
                <a:ea typeface="Helios"/>
                <a:cs typeface="Helios"/>
                <a:sym typeface="Helios"/>
              </a:rPr>
              <a:t>ital</a:t>
            </a:r>
            <a:r>
              <a:rPr lang="en-US" sz="3200">
                <a:solidFill>
                  <a:srgbClr val="000000"/>
                </a:solidFill>
                <a:latin typeface="Helios"/>
                <a:ea typeface="Helios"/>
                <a:cs typeface="Helios"/>
                <a:sym typeface="Helios"/>
              </a:rPr>
              <a:t>s</a:t>
            </a:r>
          </a:p>
          <a:p>
            <a:pPr algn="l" marL="690881" indent="-345440" lvl="1">
              <a:lnSpc>
                <a:spcPts val="4800"/>
              </a:lnSpc>
              <a:buFont typeface="Arial"/>
              <a:buChar char="•"/>
            </a:pPr>
            <a:r>
              <a:rPr lang="en-US" b="true" sz="3200">
                <a:solidFill>
                  <a:srgbClr val="000000"/>
                </a:solidFill>
                <a:latin typeface="Helios Bold"/>
                <a:ea typeface="Helios Bold"/>
                <a:cs typeface="Helios Bold"/>
                <a:sym typeface="Helios Bold"/>
              </a:rPr>
              <a:t>Reduces doctors’ workload</a:t>
            </a:r>
            <a:r>
              <a:rPr lang="en-US" sz="3200">
                <a:solidFill>
                  <a:srgbClr val="000000"/>
                </a:solidFill>
                <a:latin typeface="Helios"/>
                <a:ea typeface="Helios"/>
                <a:cs typeface="Helios"/>
                <a:sym typeface="Helios"/>
              </a:rPr>
              <a:t> by giving quick, cons</a:t>
            </a:r>
            <a:r>
              <a:rPr lang="en-US" sz="3200">
                <a:solidFill>
                  <a:srgbClr val="000000"/>
                </a:solidFill>
                <a:latin typeface="Helios"/>
                <a:ea typeface="Helios"/>
                <a:cs typeface="Helios"/>
                <a:sym typeface="Helios"/>
              </a:rPr>
              <a:t>istent</a:t>
            </a:r>
            <a:r>
              <a:rPr lang="en-US" sz="3200">
                <a:solidFill>
                  <a:srgbClr val="000000"/>
                </a:solidFill>
                <a:latin typeface="Helios"/>
                <a:ea typeface="Helios"/>
                <a:cs typeface="Helios"/>
                <a:sym typeface="Helios"/>
              </a:rPr>
              <a:t> image support</a:t>
            </a:r>
          </a:p>
          <a:p>
            <a:pPr algn="l" marL="690881" indent="-345440" lvl="1">
              <a:lnSpc>
                <a:spcPts val="4800"/>
              </a:lnSpc>
              <a:buFont typeface="Arial"/>
              <a:buChar char="•"/>
            </a:pPr>
            <a:r>
              <a:rPr lang="en-US" sz="3200">
                <a:solidFill>
                  <a:srgbClr val="000000"/>
                </a:solidFill>
                <a:latin typeface="Helios"/>
                <a:ea typeface="Helios"/>
                <a:cs typeface="Helios"/>
                <a:sym typeface="Helios"/>
              </a:rPr>
              <a:t>Shows that this approach can </a:t>
            </a:r>
            <a:r>
              <a:rPr lang="en-US" b="true" sz="3200">
                <a:solidFill>
                  <a:srgbClr val="000000"/>
                </a:solidFill>
                <a:latin typeface="Helios Bold"/>
                <a:ea typeface="Helios Bold"/>
                <a:cs typeface="Helios Bold"/>
                <a:sym typeface="Helios Bold"/>
              </a:rPr>
              <a:t>bring AI into hospital</a:t>
            </a:r>
            <a:r>
              <a:rPr lang="en-US" sz="3200">
                <a:solidFill>
                  <a:srgbClr val="000000"/>
                </a:solidFill>
                <a:latin typeface="Helios"/>
                <a:ea typeface="Helios"/>
                <a:cs typeface="Helios"/>
                <a:sym typeface="Helios"/>
              </a:rPr>
              <a:t>s in a safe way</a:t>
            </a:r>
          </a:p>
        </p:txBody>
      </p:sp>
      <p:sp>
        <p:nvSpPr>
          <p:cNvPr name="TextBox 6" id="6"/>
          <p:cNvSpPr txBox="true"/>
          <p:nvPr/>
        </p:nvSpPr>
        <p:spPr>
          <a:xfrm rot="0">
            <a:off x="1028700" y="914730"/>
            <a:ext cx="10098427" cy="877887"/>
          </a:xfrm>
          <a:prstGeom prst="rect">
            <a:avLst/>
          </a:prstGeom>
        </p:spPr>
        <p:txBody>
          <a:bodyPr anchor="t" rtlCol="false" tIns="0" lIns="0" bIns="0" rIns="0">
            <a:spAutoFit/>
          </a:bodyPr>
          <a:lstStyle/>
          <a:p>
            <a:pPr algn="l">
              <a:lnSpc>
                <a:spcPts val="7000"/>
              </a:lnSpc>
              <a:spcBef>
                <a:spcPct val="0"/>
              </a:spcBef>
            </a:pPr>
            <a:r>
              <a:rPr lang="en-US" b="true" sz="5000">
                <a:solidFill>
                  <a:srgbClr val="000000"/>
                </a:solidFill>
                <a:latin typeface="Helios Bold"/>
                <a:ea typeface="Helios Bold"/>
                <a:cs typeface="Helios Bold"/>
                <a:sym typeface="Helios Bold"/>
              </a:rPr>
              <a:t>Impact of My Work</a:t>
            </a:r>
          </a:p>
        </p:txBody>
      </p:sp>
      <p:sp>
        <p:nvSpPr>
          <p:cNvPr name="TextBox 7" id="7"/>
          <p:cNvSpPr txBox="true"/>
          <p:nvPr/>
        </p:nvSpPr>
        <p:spPr>
          <a:xfrm rot="0">
            <a:off x="1028700" y="5709297"/>
            <a:ext cx="10098427" cy="877887"/>
          </a:xfrm>
          <a:prstGeom prst="rect">
            <a:avLst/>
          </a:prstGeom>
        </p:spPr>
        <p:txBody>
          <a:bodyPr anchor="t" rtlCol="false" tIns="0" lIns="0" bIns="0" rIns="0">
            <a:spAutoFit/>
          </a:bodyPr>
          <a:lstStyle/>
          <a:p>
            <a:pPr algn="l">
              <a:lnSpc>
                <a:spcPts val="7000"/>
              </a:lnSpc>
              <a:spcBef>
                <a:spcPct val="0"/>
              </a:spcBef>
            </a:pPr>
            <a:r>
              <a:rPr lang="en-US" b="true" sz="5000">
                <a:solidFill>
                  <a:srgbClr val="000000"/>
                </a:solidFill>
                <a:latin typeface="Helios Bold"/>
                <a:ea typeface="Helios Bold"/>
                <a:cs typeface="Helios Bold"/>
                <a:sym typeface="Helios Bold"/>
              </a:rPr>
              <a:t>Limitations</a:t>
            </a:r>
          </a:p>
        </p:txBody>
      </p:sp>
      <p:sp>
        <p:nvSpPr>
          <p:cNvPr name="TextBox 8" id="8"/>
          <p:cNvSpPr txBox="true"/>
          <p:nvPr/>
        </p:nvSpPr>
        <p:spPr>
          <a:xfrm rot="0">
            <a:off x="1028700" y="6963093"/>
            <a:ext cx="16230600" cy="1835467"/>
          </a:xfrm>
          <a:prstGeom prst="rect">
            <a:avLst/>
          </a:prstGeom>
        </p:spPr>
        <p:txBody>
          <a:bodyPr anchor="t" rtlCol="false" tIns="0" lIns="0" bIns="0" rIns="0">
            <a:spAutoFit/>
          </a:bodyPr>
          <a:lstStyle/>
          <a:p>
            <a:pPr algn="l" marL="690881" indent="-345440" lvl="1">
              <a:lnSpc>
                <a:spcPts val="4800"/>
              </a:lnSpc>
              <a:buFont typeface="Arial"/>
              <a:buChar char="•"/>
            </a:pPr>
            <a:r>
              <a:rPr lang="en-US" sz="3200">
                <a:solidFill>
                  <a:srgbClr val="000000"/>
                </a:solidFill>
                <a:latin typeface="Helios"/>
                <a:ea typeface="Helios"/>
                <a:cs typeface="Helios"/>
                <a:sym typeface="Helios"/>
              </a:rPr>
              <a:t>Preference pairs </a:t>
            </a:r>
            <a:r>
              <a:rPr lang="en-US" sz="3200">
                <a:solidFill>
                  <a:srgbClr val="000000"/>
                </a:solidFill>
                <a:latin typeface="Helios"/>
                <a:ea typeface="Helios"/>
                <a:cs typeface="Helios"/>
                <a:sym typeface="Helios"/>
              </a:rPr>
              <a:t>re</a:t>
            </a:r>
            <a:r>
              <a:rPr lang="en-US" sz="3200">
                <a:solidFill>
                  <a:srgbClr val="000000"/>
                </a:solidFill>
                <a:latin typeface="Helios"/>
                <a:ea typeface="Helios"/>
                <a:cs typeface="Helios"/>
                <a:sym typeface="Helios"/>
              </a:rPr>
              <a:t>qu</a:t>
            </a:r>
            <a:r>
              <a:rPr lang="en-US" sz="3200">
                <a:solidFill>
                  <a:srgbClr val="000000"/>
                </a:solidFill>
                <a:latin typeface="Helios"/>
                <a:ea typeface="Helios"/>
                <a:cs typeface="Helios"/>
                <a:sym typeface="Helios"/>
              </a:rPr>
              <a:t>ire</a:t>
            </a:r>
            <a:r>
              <a:rPr lang="en-US" sz="3200">
                <a:solidFill>
                  <a:srgbClr val="000000"/>
                </a:solidFill>
                <a:latin typeface="Helios"/>
                <a:ea typeface="Helios"/>
                <a:cs typeface="Helios"/>
                <a:sym typeface="Helios"/>
              </a:rPr>
              <a:t> </a:t>
            </a:r>
            <a:r>
              <a:rPr lang="en-US" b="true" sz="3200">
                <a:solidFill>
                  <a:srgbClr val="000000"/>
                </a:solidFill>
                <a:latin typeface="Helios Bold"/>
                <a:ea typeface="Helios Bold"/>
                <a:cs typeface="Helios Bold"/>
                <a:sym typeface="Helios Bold"/>
              </a:rPr>
              <a:t>high-quality CoT annotations → costly to obtain</a:t>
            </a:r>
          </a:p>
          <a:p>
            <a:pPr algn="l" marL="690881" indent="-345440" lvl="1">
              <a:lnSpc>
                <a:spcPts val="4800"/>
              </a:lnSpc>
              <a:buFont typeface="Arial"/>
              <a:buChar char="•"/>
            </a:pPr>
            <a:r>
              <a:rPr lang="en-US" sz="3200">
                <a:solidFill>
                  <a:srgbClr val="000000"/>
                </a:solidFill>
                <a:latin typeface="Helios"/>
                <a:ea typeface="Helios"/>
                <a:cs typeface="Helios"/>
                <a:sym typeface="Helios"/>
              </a:rPr>
              <a:t>Accu</a:t>
            </a:r>
            <a:r>
              <a:rPr lang="en-US" sz="3200">
                <a:solidFill>
                  <a:srgbClr val="000000"/>
                </a:solidFill>
                <a:latin typeface="Helios"/>
                <a:ea typeface="Helios"/>
                <a:cs typeface="Helios"/>
                <a:sym typeface="Helios"/>
              </a:rPr>
              <a:t>r</a:t>
            </a:r>
            <a:r>
              <a:rPr lang="en-US" sz="3200">
                <a:solidFill>
                  <a:srgbClr val="000000"/>
                </a:solidFill>
                <a:latin typeface="Helios"/>
                <a:ea typeface="Helios"/>
                <a:cs typeface="Helios"/>
                <a:sym typeface="Helios"/>
              </a:rPr>
              <a:t>acy is </a:t>
            </a:r>
            <a:r>
              <a:rPr lang="en-US" b="true" sz="3200">
                <a:solidFill>
                  <a:srgbClr val="000000"/>
                </a:solidFill>
                <a:latin typeface="Helios Bold"/>
                <a:ea typeface="Helios Bold"/>
                <a:cs typeface="Helios Bold"/>
                <a:sym typeface="Helios Bold"/>
              </a:rPr>
              <a:t>good</a:t>
            </a:r>
            <a:r>
              <a:rPr lang="en-US" sz="3200">
                <a:solidFill>
                  <a:srgbClr val="000000"/>
                </a:solidFill>
                <a:latin typeface="Helios"/>
                <a:ea typeface="Helios"/>
                <a:cs typeface="Helios"/>
                <a:sym typeface="Helios"/>
              </a:rPr>
              <a:t>, but n</a:t>
            </a:r>
            <a:r>
              <a:rPr lang="en-US" sz="3200">
                <a:solidFill>
                  <a:srgbClr val="000000"/>
                </a:solidFill>
                <a:latin typeface="Helios"/>
                <a:ea typeface="Helios"/>
                <a:cs typeface="Helios"/>
                <a:sym typeface="Helios"/>
              </a:rPr>
              <a:t>o</a:t>
            </a:r>
            <a:r>
              <a:rPr lang="en-US" sz="3200">
                <a:solidFill>
                  <a:srgbClr val="000000"/>
                </a:solidFill>
                <a:latin typeface="Helios"/>
                <a:ea typeface="Helios"/>
                <a:cs typeface="Helios"/>
                <a:sym typeface="Helios"/>
              </a:rPr>
              <a:t>t </a:t>
            </a:r>
            <a:r>
              <a:rPr lang="en-US" sz="3200">
                <a:solidFill>
                  <a:srgbClr val="000000"/>
                </a:solidFill>
                <a:latin typeface="Helios"/>
                <a:ea typeface="Helios"/>
                <a:cs typeface="Helios"/>
                <a:sym typeface="Helios"/>
              </a:rPr>
              <a:t>enough for direct clinical use</a:t>
            </a:r>
          </a:p>
          <a:p>
            <a:pPr algn="l" marL="690881" indent="-345440" lvl="1">
              <a:lnSpc>
                <a:spcPts val="4800"/>
              </a:lnSpc>
              <a:buFont typeface="Arial"/>
              <a:buChar char="•"/>
            </a:pPr>
            <a:r>
              <a:rPr lang="en-US" sz="3200">
                <a:solidFill>
                  <a:srgbClr val="000000"/>
                </a:solidFill>
                <a:latin typeface="Helios"/>
                <a:ea typeface="Helios"/>
                <a:cs typeface="Helios"/>
                <a:sym typeface="Helios"/>
              </a:rPr>
              <a:t>Full depl</a:t>
            </a:r>
            <a:r>
              <a:rPr lang="en-US" sz="3200">
                <a:solidFill>
                  <a:srgbClr val="000000"/>
                </a:solidFill>
                <a:latin typeface="Helios"/>
                <a:ea typeface="Helios"/>
                <a:cs typeface="Helios"/>
                <a:sym typeface="Helios"/>
              </a:rPr>
              <a:t>oym</a:t>
            </a:r>
            <a:r>
              <a:rPr lang="en-US" sz="3200">
                <a:solidFill>
                  <a:srgbClr val="000000"/>
                </a:solidFill>
                <a:latin typeface="Helios"/>
                <a:ea typeface="Helios"/>
                <a:cs typeface="Helios"/>
                <a:sym typeface="Helios"/>
              </a:rPr>
              <a:t>ent requires </a:t>
            </a:r>
            <a:r>
              <a:rPr lang="en-US" b="true" sz="3200">
                <a:solidFill>
                  <a:srgbClr val="000000"/>
                </a:solidFill>
                <a:latin typeface="Helios Bold"/>
                <a:ea typeface="Helios Bold"/>
                <a:cs typeface="Helios Bold"/>
                <a:sym typeface="Helios Bold"/>
              </a:rPr>
              <a:t>medical expert validation</a:t>
            </a:r>
            <a:r>
              <a:rPr lang="en-US" sz="3200">
                <a:solidFill>
                  <a:srgbClr val="000000"/>
                </a:solidFill>
                <a:latin typeface="Helios"/>
                <a:ea typeface="Helios"/>
                <a:cs typeface="Helios"/>
                <a:sym typeface="Helios"/>
              </a:rPr>
              <a:t> and </a:t>
            </a:r>
            <a:r>
              <a:rPr lang="en-US" b="true" sz="3200">
                <a:solidFill>
                  <a:srgbClr val="000000"/>
                </a:solidFill>
                <a:latin typeface="Helios Bold"/>
                <a:ea typeface="Helios Bold"/>
                <a:cs typeface="Helios Bold"/>
                <a:sym typeface="Helios Bold"/>
              </a:rPr>
              <a:t>regulatory approvals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23090"/>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TextBox 5" id="5"/>
          <p:cNvSpPr txBox="true"/>
          <p:nvPr/>
        </p:nvSpPr>
        <p:spPr>
          <a:xfrm rot="0">
            <a:off x="1028700" y="2234482"/>
            <a:ext cx="16476996" cy="2445067"/>
          </a:xfrm>
          <a:prstGeom prst="rect">
            <a:avLst/>
          </a:prstGeom>
        </p:spPr>
        <p:txBody>
          <a:bodyPr anchor="t" rtlCol="false" tIns="0" lIns="0" bIns="0" rIns="0">
            <a:spAutoFit/>
          </a:bodyPr>
          <a:lstStyle/>
          <a:p>
            <a:pPr algn="l" marL="690881" indent="-345440" lvl="1">
              <a:lnSpc>
                <a:spcPts val="4800"/>
              </a:lnSpc>
              <a:buFont typeface="Arial"/>
              <a:buChar char="•"/>
            </a:pPr>
            <a:r>
              <a:rPr lang="en-US" sz="3200">
                <a:solidFill>
                  <a:srgbClr val="000000"/>
                </a:solidFill>
                <a:latin typeface="Helios"/>
                <a:ea typeface="Helios"/>
                <a:cs typeface="Helios"/>
                <a:sym typeface="Helios"/>
              </a:rPr>
              <a:t>Expand to </a:t>
            </a:r>
            <a:r>
              <a:rPr lang="en-US" b="true" sz="3200">
                <a:solidFill>
                  <a:srgbClr val="000000"/>
                </a:solidFill>
                <a:latin typeface="Helios Bold"/>
                <a:ea typeface="Helios Bold"/>
                <a:cs typeface="Helios Bold"/>
                <a:sym typeface="Helios Bold"/>
              </a:rPr>
              <a:t>larger</a:t>
            </a:r>
            <a:r>
              <a:rPr lang="en-US" sz="3200">
                <a:solidFill>
                  <a:srgbClr val="000000"/>
                </a:solidFill>
                <a:latin typeface="Helios"/>
                <a:ea typeface="Helios"/>
                <a:cs typeface="Helios"/>
                <a:sym typeface="Helios"/>
              </a:rPr>
              <a:t> and </a:t>
            </a:r>
            <a:r>
              <a:rPr lang="en-US" b="true" sz="3200">
                <a:solidFill>
                  <a:srgbClr val="000000"/>
                </a:solidFill>
                <a:latin typeface="Helios Bold"/>
                <a:ea typeface="Helios Bold"/>
                <a:cs typeface="Helios Bold"/>
                <a:sym typeface="Helios Bold"/>
              </a:rPr>
              <a:t>more varied datasets</a:t>
            </a:r>
            <a:r>
              <a:rPr lang="en-US" sz="3200">
                <a:solidFill>
                  <a:srgbClr val="000000"/>
                </a:solidFill>
                <a:latin typeface="Helios"/>
                <a:ea typeface="Helios"/>
                <a:cs typeface="Helios"/>
                <a:sym typeface="Helios"/>
              </a:rPr>
              <a:t> (different hospitals, scann</a:t>
            </a:r>
            <a:r>
              <a:rPr lang="en-US" sz="3200">
                <a:solidFill>
                  <a:srgbClr val="000000"/>
                </a:solidFill>
                <a:latin typeface="Helios"/>
                <a:ea typeface="Helios"/>
                <a:cs typeface="Helios"/>
                <a:sym typeface="Helios"/>
              </a:rPr>
              <a:t>ers,</a:t>
            </a:r>
            <a:r>
              <a:rPr lang="en-US" sz="3200">
                <a:solidFill>
                  <a:srgbClr val="000000"/>
                </a:solidFill>
                <a:latin typeface="Helios"/>
                <a:ea typeface="Helios"/>
                <a:cs typeface="Helios"/>
                <a:sym typeface="Helios"/>
              </a:rPr>
              <a:t> patient groups)</a:t>
            </a:r>
          </a:p>
          <a:p>
            <a:pPr algn="l" marL="690881" indent="-345440" lvl="1">
              <a:lnSpc>
                <a:spcPts val="4800"/>
              </a:lnSpc>
              <a:buFont typeface="Arial"/>
              <a:buChar char="•"/>
            </a:pPr>
            <a:r>
              <a:rPr lang="en-US" sz="3200">
                <a:solidFill>
                  <a:srgbClr val="000000"/>
                </a:solidFill>
                <a:latin typeface="Helios"/>
                <a:ea typeface="Helios"/>
                <a:cs typeface="Helios"/>
                <a:sym typeface="Helios"/>
              </a:rPr>
              <a:t>Connect the model</a:t>
            </a:r>
            <a:r>
              <a:rPr lang="en-US" sz="3200">
                <a:solidFill>
                  <a:srgbClr val="000000"/>
                </a:solidFill>
                <a:latin typeface="Helios"/>
                <a:ea typeface="Helios"/>
                <a:cs typeface="Helios"/>
                <a:sym typeface="Helios"/>
              </a:rPr>
              <a:t> with </a:t>
            </a:r>
            <a:r>
              <a:rPr lang="en-US" b="true" sz="3200">
                <a:solidFill>
                  <a:srgbClr val="000000"/>
                </a:solidFill>
                <a:latin typeface="Helios Bold"/>
                <a:ea typeface="Helios Bold"/>
                <a:cs typeface="Helios Bold"/>
                <a:sym typeface="Helios Bold"/>
              </a:rPr>
              <a:t>hospital software</a:t>
            </a:r>
            <a:r>
              <a:rPr lang="en-US" sz="3200">
                <a:solidFill>
                  <a:srgbClr val="000000"/>
                </a:solidFill>
                <a:latin typeface="Helios"/>
                <a:ea typeface="Helios"/>
                <a:cs typeface="Helios"/>
                <a:sym typeface="Helios"/>
              </a:rPr>
              <a:t> for real-time use</a:t>
            </a:r>
          </a:p>
          <a:p>
            <a:pPr algn="l" marL="690881" indent="-345440" lvl="1">
              <a:lnSpc>
                <a:spcPts val="4800"/>
              </a:lnSpc>
              <a:buFont typeface="Arial"/>
              <a:buChar char="•"/>
            </a:pPr>
            <a:r>
              <a:rPr lang="en-US" b="true" sz="3200">
                <a:solidFill>
                  <a:srgbClr val="000000"/>
                </a:solidFill>
                <a:latin typeface="Helios Bold"/>
                <a:ea typeface="Helios Bold"/>
                <a:cs typeface="Helios Bold"/>
                <a:sym typeface="Helios Bold"/>
              </a:rPr>
              <a:t>Reduc</a:t>
            </a:r>
            <a:r>
              <a:rPr lang="en-US" b="true" sz="3200">
                <a:solidFill>
                  <a:srgbClr val="000000"/>
                </a:solidFill>
                <a:latin typeface="Helios Bold"/>
                <a:ea typeface="Helios Bold"/>
                <a:cs typeface="Helios Bold"/>
                <a:sym typeface="Helios Bold"/>
              </a:rPr>
              <a:t>e manual work</a:t>
            </a:r>
            <a:r>
              <a:rPr lang="en-US" sz="3200">
                <a:solidFill>
                  <a:srgbClr val="000000"/>
                </a:solidFill>
                <a:latin typeface="Helios"/>
                <a:ea typeface="Helios"/>
                <a:cs typeface="Helios"/>
                <a:sym typeface="Helios"/>
              </a:rPr>
              <a:t> by aut</a:t>
            </a:r>
            <a:r>
              <a:rPr lang="en-US" sz="3200">
                <a:solidFill>
                  <a:srgbClr val="000000"/>
                </a:solidFill>
                <a:latin typeface="Helios"/>
                <a:ea typeface="Helios"/>
                <a:cs typeface="Helios"/>
                <a:sym typeface="Helios"/>
              </a:rPr>
              <a:t>omating reasoning data collection</a:t>
            </a:r>
          </a:p>
        </p:txBody>
      </p:sp>
      <p:sp>
        <p:nvSpPr>
          <p:cNvPr name="TextBox 6" id="6"/>
          <p:cNvSpPr txBox="true"/>
          <p:nvPr/>
        </p:nvSpPr>
        <p:spPr>
          <a:xfrm rot="0">
            <a:off x="1028700" y="914400"/>
            <a:ext cx="10098427" cy="877887"/>
          </a:xfrm>
          <a:prstGeom prst="rect">
            <a:avLst/>
          </a:prstGeom>
        </p:spPr>
        <p:txBody>
          <a:bodyPr anchor="t" rtlCol="false" tIns="0" lIns="0" bIns="0" rIns="0">
            <a:spAutoFit/>
          </a:bodyPr>
          <a:lstStyle/>
          <a:p>
            <a:pPr algn="l">
              <a:lnSpc>
                <a:spcPts val="7000"/>
              </a:lnSpc>
              <a:spcBef>
                <a:spcPct val="0"/>
              </a:spcBef>
            </a:pPr>
            <a:r>
              <a:rPr lang="en-US" b="true" sz="5000">
                <a:solidFill>
                  <a:srgbClr val="000000"/>
                </a:solidFill>
                <a:latin typeface="Helios Bold"/>
                <a:ea typeface="Helios Bold"/>
                <a:cs typeface="Helios Bold"/>
                <a:sym typeface="Helios Bold"/>
              </a:rPr>
              <a:t>Future Scope</a:t>
            </a:r>
          </a:p>
        </p:txBody>
      </p:sp>
      <p:sp>
        <p:nvSpPr>
          <p:cNvPr name="TextBox 7" id="7"/>
          <p:cNvSpPr txBox="true"/>
          <p:nvPr/>
        </p:nvSpPr>
        <p:spPr>
          <a:xfrm rot="0">
            <a:off x="1028700" y="5107458"/>
            <a:ext cx="10098427" cy="877887"/>
          </a:xfrm>
          <a:prstGeom prst="rect">
            <a:avLst/>
          </a:prstGeom>
        </p:spPr>
        <p:txBody>
          <a:bodyPr anchor="t" rtlCol="false" tIns="0" lIns="0" bIns="0" rIns="0">
            <a:spAutoFit/>
          </a:bodyPr>
          <a:lstStyle/>
          <a:p>
            <a:pPr algn="l">
              <a:lnSpc>
                <a:spcPts val="7000"/>
              </a:lnSpc>
              <a:spcBef>
                <a:spcPct val="0"/>
              </a:spcBef>
            </a:pPr>
            <a:r>
              <a:rPr lang="en-US" b="true" sz="5000">
                <a:solidFill>
                  <a:srgbClr val="000000"/>
                </a:solidFill>
                <a:latin typeface="Helios Bold"/>
                <a:ea typeface="Helios Bold"/>
                <a:cs typeface="Helios Bold"/>
                <a:sym typeface="Helios Bold"/>
              </a:rPr>
              <a:t>Conclusion</a:t>
            </a:r>
          </a:p>
        </p:txBody>
      </p:sp>
      <p:sp>
        <p:nvSpPr>
          <p:cNvPr name="TextBox 8" id="8"/>
          <p:cNvSpPr txBox="true"/>
          <p:nvPr/>
        </p:nvSpPr>
        <p:spPr>
          <a:xfrm rot="0">
            <a:off x="1028700" y="6413970"/>
            <a:ext cx="16230600" cy="2449830"/>
          </a:xfrm>
          <a:prstGeom prst="rect">
            <a:avLst/>
          </a:prstGeom>
        </p:spPr>
        <p:txBody>
          <a:bodyPr anchor="t" rtlCol="false" tIns="0" lIns="0" bIns="0" rIns="0">
            <a:spAutoFit/>
          </a:bodyPr>
          <a:lstStyle/>
          <a:p>
            <a:pPr algn="l" marL="690881" indent="-345440" lvl="1">
              <a:lnSpc>
                <a:spcPts val="4800"/>
              </a:lnSpc>
              <a:buFont typeface="Arial"/>
              <a:buChar char="•"/>
            </a:pPr>
            <a:r>
              <a:rPr lang="en-US" sz="3200">
                <a:solidFill>
                  <a:srgbClr val="000000"/>
                </a:solidFill>
                <a:latin typeface="Helios"/>
                <a:ea typeface="Helios"/>
                <a:cs typeface="Helios"/>
                <a:sym typeface="Helios"/>
              </a:rPr>
              <a:t>Built a </a:t>
            </a:r>
            <a:r>
              <a:rPr lang="en-US" b="true" sz="3200">
                <a:solidFill>
                  <a:srgbClr val="000000"/>
                </a:solidFill>
                <a:latin typeface="Helios Bold"/>
                <a:ea typeface="Helios Bold"/>
                <a:cs typeface="Helios Bold"/>
                <a:sym typeface="Helios Bold"/>
              </a:rPr>
              <a:t>lightweight AI system</a:t>
            </a:r>
            <a:r>
              <a:rPr lang="en-US" sz="3200">
                <a:solidFill>
                  <a:srgbClr val="000000"/>
                </a:solidFill>
                <a:latin typeface="Helios"/>
                <a:ea typeface="Helios"/>
                <a:cs typeface="Helios"/>
                <a:sym typeface="Helios"/>
              </a:rPr>
              <a:t> fo</a:t>
            </a:r>
            <a:r>
              <a:rPr lang="en-US" sz="3200">
                <a:solidFill>
                  <a:srgbClr val="000000"/>
                </a:solidFill>
                <a:latin typeface="Helios"/>
                <a:ea typeface="Helios"/>
                <a:cs typeface="Helios"/>
                <a:sym typeface="Helios"/>
              </a:rPr>
              <a:t>r medical image understanding</a:t>
            </a:r>
          </a:p>
          <a:p>
            <a:pPr algn="l" marL="690881" indent="-345440" lvl="1">
              <a:lnSpc>
                <a:spcPts val="4800"/>
              </a:lnSpc>
              <a:buFont typeface="Arial"/>
              <a:buChar char="•"/>
            </a:pPr>
            <a:r>
              <a:rPr lang="en-US" sz="3200">
                <a:solidFill>
                  <a:srgbClr val="000000"/>
                </a:solidFill>
                <a:latin typeface="Helios"/>
                <a:ea typeface="Helios"/>
                <a:cs typeface="Helios"/>
                <a:sym typeface="Helios"/>
              </a:rPr>
              <a:t>Achiev</a:t>
            </a:r>
            <a:r>
              <a:rPr lang="en-US" sz="3200">
                <a:solidFill>
                  <a:srgbClr val="000000"/>
                </a:solidFill>
                <a:latin typeface="Helios"/>
                <a:ea typeface="Helios"/>
                <a:cs typeface="Helios"/>
                <a:sym typeface="Helios"/>
              </a:rPr>
              <a:t>e</a:t>
            </a:r>
            <a:r>
              <a:rPr lang="en-US" sz="3200">
                <a:solidFill>
                  <a:srgbClr val="000000"/>
                </a:solidFill>
                <a:latin typeface="Helios"/>
                <a:ea typeface="Helios"/>
                <a:cs typeface="Helios"/>
                <a:sym typeface="Helios"/>
              </a:rPr>
              <a:t>s</a:t>
            </a:r>
            <a:r>
              <a:rPr lang="en-US" sz="3200">
                <a:solidFill>
                  <a:srgbClr val="000000"/>
                </a:solidFill>
                <a:latin typeface="Helios"/>
                <a:ea typeface="Helios"/>
                <a:cs typeface="Helios"/>
                <a:sym typeface="Helios"/>
              </a:rPr>
              <a:t> </a:t>
            </a:r>
            <a:r>
              <a:rPr lang="en-US" b="true" sz="3200">
                <a:solidFill>
                  <a:srgbClr val="000000"/>
                </a:solidFill>
                <a:latin typeface="Helios Bold"/>
                <a:ea typeface="Helios Bold"/>
                <a:cs typeface="Helios Bold"/>
                <a:sym typeface="Helios Bold"/>
              </a:rPr>
              <a:t>high accuracy</a:t>
            </a:r>
            <a:r>
              <a:rPr lang="en-US" sz="3200">
                <a:solidFill>
                  <a:srgbClr val="000000"/>
                </a:solidFill>
                <a:latin typeface="Helios"/>
                <a:ea typeface="Helios"/>
                <a:cs typeface="Helios"/>
                <a:sym typeface="Helios"/>
              </a:rPr>
              <a:t> with much</a:t>
            </a:r>
            <a:r>
              <a:rPr lang="en-US" sz="3200">
                <a:solidFill>
                  <a:srgbClr val="000000"/>
                </a:solidFill>
                <a:latin typeface="Helios"/>
                <a:ea typeface="Helios"/>
                <a:cs typeface="Helios"/>
                <a:sym typeface="Helios"/>
              </a:rPr>
              <a:t> </a:t>
            </a:r>
            <a:r>
              <a:rPr lang="en-US" b="true" sz="3200">
                <a:solidFill>
                  <a:srgbClr val="000000"/>
                </a:solidFill>
                <a:latin typeface="Helios Bold"/>
                <a:ea typeface="Helios Bold"/>
                <a:cs typeface="Helios Bold"/>
                <a:sym typeface="Helios Bold"/>
              </a:rPr>
              <a:t>faster training</a:t>
            </a:r>
          </a:p>
          <a:p>
            <a:pPr algn="l" marL="690881" indent="-345440" lvl="1">
              <a:lnSpc>
                <a:spcPts val="4800"/>
              </a:lnSpc>
              <a:buFont typeface="Arial"/>
              <a:buChar char="•"/>
            </a:pPr>
            <a:r>
              <a:rPr lang="en-US" sz="3200">
                <a:solidFill>
                  <a:srgbClr val="000000"/>
                </a:solidFill>
                <a:latin typeface="Helios"/>
                <a:ea typeface="Helios"/>
                <a:cs typeface="Helios"/>
                <a:sym typeface="Helios"/>
              </a:rPr>
              <a:t>Practical f</a:t>
            </a:r>
            <a:r>
              <a:rPr lang="en-US" sz="3200">
                <a:solidFill>
                  <a:srgbClr val="000000"/>
                </a:solidFill>
                <a:latin typeface="Helios"/>
                <a:ea typeface="Helios"/>
                <a:cs typeface="Helios"/>
                <a:sym typeface="Helios"/>
              </a:rPr>
              <a:t>or</a:t>
            </a:r>
            <a:r>
              <a:rPr lang="en-US" sz="3200">
                <a:solidFill>
                  <a:srgbClr val="000000"/>
                </a:solidFill>
                <a:latin typeface="Helios"/>
                <a:ea typeface="Helios"/>
                <a:cs typeface="Helios"/>
                <a:sym typeface="Helios"/>
              </a:rPr>
              <a:t> </a:t>
            </a:r>
            <a:r>
              <a:rPr lang="en-US" b="true" sz="3200">
                <a:solidFill>
                  <a:srgbClr val="000000"/>
                </a:solidFill>
                <a:latin typeface="Helios Bold"/>
                <a:ea typeface="Helios Bold"/>
                <a:cs typeface="Helios Bold"/>
                <a:sym typeface="Helios Bold"/>
              </a:rPr>
              <a:t>low-resource</a:t>
            </a:r>
            <a:r>
              <a:rPr lang="en-US" sz="3200">
                <a:solidFill>
                  <a:srgbClr val="000000"/>
                </a:solidFill>
                <a:latin typeface="Helios"/>
                <a:ea typeface="Helios"/>
                <a:cs typeface="Helios"/>
                <a:sym typeface="Helios"/>
              </a:rPr>
              <a:t> hospitals and clinics</a:t>
            </a:r>
          </a:p>
          <a:p>
            <a:pPr algn="l" marL="690881" indent="-345440" lvl="1">
              <a:lnSpc>
                <a:spcPts val="4800"/>
              </a:lnSpc>
              <a:buFont typeface="Arial"/>
              <a:buChar char="•"/>
            </a:pPr>
            <a:r>
              <a:rPr lang="en-US" sz="3200">
                <a:solidFill>
                  <a:srgbClr val="000000"/>
                </a:solidFill>
                <a:latin typeface="Helios"/>
                <a:ea typeface="Helios"/>
                <a:cs typeface="Helios"/>
                <a:sym typeface="Helios"/>
              </a:rPr>
              <a:t>Supports </a:t>
            </a:r>
            <a:r>
              <a:rPr lang="en-US" b="true" sz="3200">
                <a:solidFill>
                  <a:srgbClr val="000000"/>
                </a:solidFill>
                <a:latin typeface="Helios Bold"/>
                <a:ea typeface="Helios Bold"/>
                <a:cs typeface="Helios Bold"/>
                <a:sym typeface="Helios Bold"/>
              </a:rPr>
              <a:t>reliable</a:t>
            </a:r>
            <a:r>
              <a:rPr lang="en-US" sz="3200">
                <a:solidFill>
                  <a:srgbClr val="000000"/>
                </a:solidFill>
                <a:latin typeface="Helios"/>
                <a:ea typeface="Helios"/>
                <a:cs typeface="Helios"/>
                <a:sym typeface="Helios"/>
              </a:rPr>
              <a:t> and </a:t>
            </a:r>
            <a:r>
              <a:rPr lang="en-US" b="true" sz="3200">
                <a:solidFill>
                  <a:srgbClr val="000000"/>
                </a:solidFill>
                <a:latin typeface="Helios Bold"/>
                <a:ea typeface="Helios Bold"/>
                <a:cs typeface="Helios Bold"/>
                <a:sym typeface="Helios Bold"/>
              </a:rPr>
              <a:t>more accessible</a:t>
            </a:r>
            <a:r>
              <a:rPr lang="en-US" sz="3200">
                <a:solidFill>
                  <a:srgbClr val="000000"/>
                </a:solidFill>
                <a:latin typeface="Helios"/>
                <a:ea typeface="Helios"/>
                <a:cs typeface="Helios"/>
                <a:sym typeface="Helios"/>
              </a:rPr>
              <a:t> healthcare using AI</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718BAB"/>
        </a:solidFill>
      </p:bgPr>
    </p:bg>
    <p:spTree>
      <p:nvGrpSpPr>
        <p:cNvPr id="1" name=""/>
        <p:cNvGrpSpPr/>
        <p:nvPr/>
      </p:nvGrpSpPr>
      <p:grpSpPr>
        <a:xfrm>
          <a:off x="0" y="0"/>
          <a:ext cx="0" cy="0"/>
          <a:chOff x="0" y="0"/>
          <a:chExt cx="0" cy="0"/>
        </a:xfrm>
      </p:grpSpPr>
      <p:grpSp>
        <p:nvGrpSpPr>
          <p:cNvPr name="Group 2" id="2"/>
          <p:cNvGrpSpPr/>
          <p:nvPr/>
        </p:nvGrpSpPr>
        <p:grpSpPr>
          <a:xfrm rot="0">
            <a:off x="226888" y="223090"/>
            <a:ext cx="17834224" cy="9840820"/>
            <a:chOff x="0" y="0"/>
            <a:chExt cx="4697080" cy="2591821"/>
          </a:xfrm>
        </p:grpSpPr>
        <p:sp>
          <p:nvSpPr>
            <p:cNvPr name="Freeform 3" id="3"/>
            <p:cNvSpPr/>
            <p:nvPr/>
          </p:nvSpPr>
          <p:spPr>
            <a:xfrm flipH="false" flipV="false" rot="0">
              <a:off x="0" y="0"/>
              <a:ext cx="4697080" cy="2591821"/>
            </a:xfrm>
            <a:custGeom>
              <a:avLst/>
              <a:gdLst/>
              <a:ahLst/>
              <a:cxnLst/>
              <a:rect r="r" b="b" t="t" l="l"/>
              <a:pathLst>
                <a:path h="2591821" w="4697080">
                  <a:moveTo>
                    <a:pt x="0" y="0"/>
                  </a:moveTo>
                  <a:lnTo>
                    <a:pt x="4697080" y="0"/>
                  </a:lnTo>
                  <a:lnTo>
                    <a:pt x="4697080" y="2591821"/>
                  </a:lnTo>
                  <a:lnTo>
                    <a:pt x="0" y="2591821"/>
                  </a:lnTo>
                  <a:close/>
                </a:path>
              </a:pathLst>
            </a:custGeom>
            <a:solidFill>
              <a:srgbClr val="FFFFFF"/>
            </a:solidFill>
          </p:spPr>
        </p:sp>
        <p:sp>
          <p:nvSpPr>
            <p:cNvPr name="TextBox 4" id="4"/>
            <p:cNvSpPr txBox="true"/>
            <p:nvPr/>
          </p:nvSpPr>
          <p:spPr>
            <a:xfrm>
              <a:off x="0" y="-47625"/>
              <a:ext cx="4697080" cy="2639446"/>
            </a:xfrm>
            <a:prstGeom prst="rect">
              <a:avLst/>
            </a:prstGeom>
          </p:spPr>
          <p:txBody>
            <a:bodyPr anchor="ctr" rtlCol="false" tIns="50800" lIns="50800" bIns="50800" rIns="50800"/>
            <a:lstStyle/>
            <a:p>
              <a:pPr algn="ctr">
                <a:lnSpc>
                  <a:spcPts val="3499"/>
                </a:lnSpc>
              </a:pPr>
            </a:p>
          </p:txBody>
        </p:sp>
      </p:grpSp>
      <p:sp>
        <p:nvSpPr>
          <p:cNvPr name="TextBox 5" id="5"/>
          <p:cNvSpPr txBox="true"/>
          <p:nvPr/>
        </p:nvSpPr>
        <p:spPr>
          <a:xfrm rot="0">
            <a:off x="782304" y="532606"/>
            <a:ext cx="10098427" cy="877887"/>
          </a:xfrm>
          <a:prstGeom prst="rect">
            <a:avLst/>
          </a:prstGeom>
        </p:spPr>
        <p:txBody>
          <a:bodyPr anchor="t" rtlCol="false" tIns="0" lIns="0" bIns="0" rIns="0">
            <a:spAutoFit/>
          </a:bodyPr>
          <a:lstStyle/>
          <a:p>
            <a:pPr algn="l">
              <a:lnSpc>
                <a:spcPts val="7000"/>
              </a:lnSpc>
              <a:spcBef>
                <a:spcPct val="0"/>
              </a:spcBef>
            </a:pPr>
            <a:r>
              <a:rPr lang="en-US" b="true" sz="5000">
                <a:solidFill>
                  <a:srgbClr val="000000"/>
                </a:solidFill>
                <a:latin typeface="Helios Bold"/>
                <a:ea typeface="Helios Bold"/>
                <a:cs typeface="Helios Bold"/>
                <a:sym typeface="Helios Bold"/>
              </a:rPr>
              <a:t>References</a:t>
            </a:r>
          </a:p>
        </p:txBody>
      </p:sp>
      <p:sp>
        <p:nvSpPr>
          <p:cNvPr name="TextBox 6" id="6"/>
          <p:cNvSpPr txBox="true"/>
          <p:nvPr/>
        </p:nvSpPr>
        <p:spPr>
          <a:xfrm rot="0">
            <a:off x="782304" y="1635125"/>
            <a:ext cx="16476996" cy="8651875"/>
          </a:xfrm>
          <a:prstGeom prst="rect">
            <a:avLst/>
          </a:prstGeom>
        </p:spPr>
        <p:txBody>
          <a:bodyPr anchor="t" rtlCol="false" tIns="0" lIns="0" bIns="0" rIns="0">
            <a:spAutoFit/>
          </a:bodyPr>
          <a:lstStyle/>
          <a:p>
            <a:pPr algn="l" marL="626107" indent="-313054" lvl="1">
              <a:lnSpc>
                <a:spcPts val="4349"/>
              </a:lnSpc>
              <a:buAutoNum type="arabicPeriod" startAt="1"/>
            </a:pPr>
            <a:r>
              <a:rPr lang="en-US" sz="2899">
                <a:solidFill>
                  <a:srgbClr val="000000"/>
                </a:solidFill>
                <a:latin typeface="Helios"/>
                <a:ea typeface="Helios"/>
                <a:cs typeface="Helios"/>
                <a:sym typeface="Helios"/>
              </a:rPr>
              <a:t>P</a:t>
            </a:r>
            <a:r>
              <a:rPr lang="en-US" sz="2899">
                <a:solidFill>
                  <a:srgbClr val="000000"/>
                </a:solidFill>
                <a:latin typeface="Helios"/>
                <a:ea typeface="Helios"/>
                <a:cs typeface="Helios"/>
                <a:sym typeface="Helios"/>
              </a:rPr>
              <a:t>an, J., Liu, C., Wu, J., Liu, F., Zhu, J., Li, H.B., Chen, C., Ouyang, C., Rueckert, D.: MedVLM-R1:Incentivizing Medical Reasoning Capability of Vision-Language Models (VLMs) via Reinforcement Learning. arXiv preprint arXiv:2502.17455 (2025).</a:t>
            </a:r>
          </a:p>
          <a:p>
            <a:pPr algn="l" marL="626107" indent="-313054" lvl="1">
              <a:lnSpc>
                <a:spcPts val="4349"/>
              </a:lnSpc>
              <a:buAutoNum type="arabicPeriod" startAt="1"/>
            </a:pPr>
            <a:r>
              <a:rPr lang="en-US" sz="2899">
                <a:solidFill>
                  <a:srgbClr val="000000"/>
                </a:solidFill>
                <a:latin typeface="Helios"/>
                <a:ea typeface="Helios"/>
                <a:cs typeface="Helios"/>
                <a:sym typeface="Helios"/>
              </a:rPr>
              <a:t>Rafailov, R., Sharma, A., Mitchell, E., Ermon, S., Manning, C.D., Finn, C.: Direct Preference Optimization: Your Language Model is Secretly a Reward Model. arXiv preprint arXiv:2305.18290 (2023).</a:t>
            </a:r>
          </a:p>
          <a:p>
            <a:pPr algn="l" marL="626107" indent="-313054" lvl="1">
              <a:lnSpc>
                <a:spcPts val="4349"/>
              </a:lnSpc>
              <a:buAutoNum type="arabicPeriod" startAt="1"/>
            </a:pPr>
            <a:r>
              <a:rPr lang="en-US" sz="2899">
                <a:solidFill>
                  <a:srgbClr val="000000"/>
                </a:solidFill>
                <a:latin typeface="Helios"/>
                <a:ea typeface="Helios"/>
                <a:cs typeface="Helios"/>
                <a:sym typeface="Helios"/>
              </a:rPr>
              <a:t>Chu, T., Zhai, Y ., Yang, J., Tong, S., Xie, S., Schuurmans, D., Le, Q.V ., Levine, S., Ma, Y .: SFT Memorizes, RL Generalizes: A Comparative Study of Foundation Model Post-training. arXiv preprint arXiv:2501.12321 (2025).</a:t>
            </a:r>
          </a:p>
          <a:p>
            <a:pPr algn="l" marL="626107" indent="-313054" lvl="1">
              <a:lnSpc>
                <a:spcPts val="4349"/>
              </a:lnSpc>
              <a:buAutoNum type="arabicPeriod" startAt="1"/>
            </a:pPr>
            <a:r>
              <a:rPr lang="en-US" sz="2899">
                <a:solidFill>
                  <a:srgbClr val="000000"/>
                </a:solidFill>
                <a:latin typeface="Helios"/>
                <a:ea typeface="Helios"/>
                <a:cs typeface="Helios"/>
                <a:sym typeface="Helios"/>
              </a:rPr>
              <a:t>Zanella, M., Ben Ayed, I.: Low-Rank Few-Shot Adaptation of Vision-Language Models. arXiv preprint arXiv:2405.12345 (2024).</a:t>
            </a:r>
          </a:p>
          <a:p>
            <a:pPr algn="l" marL="626107" indent="-313054" lvl="1">
              <a:lnSpc>
                <a:spcPts val="4349"/>
              </a:lnSpc>
              <a:buAutoNum type="arabicPeriod" startAt="1"/>
            </a:pPr>
            <a:r>
              <a:rPr lang="en-US" sz="2899">
                <a:solidFill>
                  <a:srgbClr val="000000"/>
                </a:solidFill>
                <a:latin typeface="Helios"/>
                <a:ea typeface="Helios"/>
                <a:cs typeface="Helios"/>
                <a:sym typeface="Helios"/>
              </a:rPr>
              <a:t>Wang, P., Bai, S., Tan, S., Wang, S., Fan, Z., Bai, J., Chen, K., Liu, X., Wang, J., Ge, W., Fan, Y .,Dang, K., Du, M., Ren, X., Men, R., Liu, D., Zhou, C., Zhou, J., Lin, J.: Qwen2-VL: EnhancingVision-Language Model’s Perception of the World at Any Resolution. arXiv preprint arXiv:2409.12345 (2024)</a:t>
            </a:r>
          </a:p>
          <a:p>
            <a:pPr algn="l">
              <a:lnSpc>
                <a:spcPts val="405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86902" y="-4706024"/>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628660" y="3824495"/>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905577" y="6973616"/>
            <a:ext cx="5969713" cy="5969713"/>
          </a:xfrm>
          <a:custGeom>
            <a:avLst/>
            <a:gdLst/>
            <a:ahLst/>
            <a:cxnLst/>
            <a:rect r="r" b="b" t="t" l="l"/>
            <a:pathLst>
              <a:path h="5969713" w="5969713">
                <a:moveTo>
                  <a:pt x="0" y="0"/>
                </a:moveTo>
                <a:lnTo>
                  <a:pt x="5969713" y="0"/>
                </a:lnTo>
                <a:lnTo>
                  <a:pt x="5969713" y="5969713"/>
                </a:lnTo>
                <a:lnTo>
                  <a:pt x="0" y="5969713"/>
                </a:lnTo>
                <a:lnTo>
                  <a:pt x="0" y="0"/>
                </a:lnTo>
                <a:close/>
              </a:path>
            </a:pathLst>
          </a:custGeom>
          <a:blipFill>
            <a:blip r:embed="rId2">
              <a:alphaModFix amt="80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865807" y="2402830"/>
            <a:ext cx="11881623" cy="6316090"/>
          </a:xfrm>
          <a:prstGeom prst="rect">
            <a:avLst/>
          </a:prstGeom>
        </p:spPr>
        <p:txBody>
          <a:bodyPr anchor="t" rtlCol="false" tIns="0" lIns="0" bIns="0" rIns="0">
            <a:spAutoFit/>
          </a:bodyPr>
          <a:lstStyle/>
          <a:p>
            <a:pPr algn="l">
              <a:lnSpc>
                <a:spcPts val="24834"/>
              </a:lnSpc>
            </a:pPr>
            <a:r>
              <a:rPr lang="en-US" sz="20695" b="true">
                <a:solidFill>
                  <a:srgbClr val="2A2E3A"/>
                </a:solidFill>
                <a:latin typeface="Klein Bold"/>
                <a:ea typeface="Klein Bold"/>
                <a:cs typeface="Klein Bold"/>
                <a:sym typeface="Klein Bold"/>
              </a:rPr>
              <a:t>THANK</a:t>
            </a:r>
          </a:p>
          <a:p>
            <a:pPr algn="l">
              <a:lnSpc>
                <a:spcPts val="24834"/>
              </a:lnSpc>
            </a:pPr>
            <a:r>
              <a:rPr lang="en-US" sz="20695" b="true">
                <a:solidFill>
                  <a:srgbClr val="718BAB"/>
                </a:solidFill>
                <a:latin typeface="Klein Bold"/>
                <a:ea typeface="Klein Bold"/>
                <a:cs typeface="Klein Bold"/>
                <a:sym typeface="Klein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DAGkuCHxbrA</dc:identifier>
  <dcterms:modified xsi:type="dcterms:W3CDTF">2011-08-01T06:04:30Z</dcterms:modified>
  <cp:revision>1</cp:revision>
  <dc:title>FTP_Vishnu</dc:title>
</cp:coreProperties>
</file>